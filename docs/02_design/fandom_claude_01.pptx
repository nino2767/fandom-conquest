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3200400" cy="6781800"/>
  <p:notesSz cx="6781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sv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sv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sv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sv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sv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" y="9525"/>
            <a:ext cx="3200400" cy="678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2875" y="504825"/>
            <a:ext cx="241935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" y="681038"/>
            <a:ext cx="85725" cy="85725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652463"/>
            <a:ext cx="7816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버니즈</a:t>
            </a:r>
            <a:endParaRPr lang="en-US" sz="938" dirty="0"/>
          </a:p>
        </p:txBody>
      </p:sp>
      <p:sp>
        <p:nvSpPr>
          <p:cNvPr id="9" name="Text 6"/>
          <p:cNvSpPr/>
          <p:nvPr/>
        </p:nvSpPr>
        <p:spPr>
          <a:xfrm>
            <a:off x="2047577" y="664369"/>
            <a:ext cx="44797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 필터 ▾</a:t>
            </a:r>
            <a:endParaRPr lang="en-US" sz="788" dirty="0"/>
          </a:p>
        </p:txBody>
      </p:sp>
      <p:sp>
        <p:nvSpPr>
          <p:cNvPr id="10" name="Shape 7"/>
          <p:cNvSpPr/>
          <p:nvPr/>
        </p:nvSpPr>
        <p:spPr>
          <a:xfrm>
            <a:off x="2638425" y="504825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6063" y="652463"/>
            <a:ext cx="142875" cy="1428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14650" y="600075"/>
            <a:ext cx="66675" cy="66675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3" name="Shape 9"/>
          <p:cNvSpPr/>
          <p:nvPr/>
        </p:nvSpPr>
        <p:spPr>
          <a:xfrm>
            <a:off x="2386422" y="1977182"/>
            <a:ext cx="366787" cy="233362"/>
          </a:xfrm>
          <a:prstGeom prst="rect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43572" y="2034332"/>
            <a:ext cx="252487" cy="15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D-2</a:t>
            </a:r>
            <a:endParaRPr lang="en-US" sz="788" dirty="0"/>
          </a:p>
        </p:txBody>
      </p:sp>
      <p:sp>
        <p:nvSpPr>
          <p:cNvPr id="15" name="Shape 11"/>
          <p:cNvSpPr/>
          <p:nvPr/>
        </p:nvSpPr>
        <p:spPr>
          <a:xfrm>
            <a:off x="2560253" y="2210544"/>
            <a:ext cx="19050" cy="104775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6" name="Shape 12"/>
          <p:cNvSpPr/>
          <p:nvPr/>
        </p:nvSpPr>
        <p:spPr>
          <a:xfrm>
            <a:off x="1524000" y="1980754"/>
            <a:ext cx="171450" cy="17145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00200" y="2152204"/>
            <a:ext cx="19050" cy="952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8" name="Shape 14"/>
          <p:cNvSpPr/>
          <p:nvPr/>
        </p:nvSpPr>
        <p:spPr>
          <a:xfrm>
            <a:off x="2228031" y="4490070"/>
            <a:ext cx="171450" cy="171450"/>
          </a:xfrm>
          <a:prstGeom prst="ellipse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304231" y="4661520"/>
            <a:ext cx="19050" cy="952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0" name="Shape 16"/>
          <p:cNvSpPr/>
          <p:nvPr/>
        </p:nvSpPr>
        <p:spPr>
          <a:xfrm>
            <a:off x="409575" y="5662613"/>
            <a:ext cx="2400300" cy="495300"/>
          </a:xfrm>
          <a:prstGeom prst="roundRect">
            <a:avLst>
              <a:gd name="adj" fmla="val 25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453" y="5841206"/>
            <a:ext cx="138113" cy="1381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98240" y="5826919"/>
            <a:ext cx="70395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땅 뺏어오기</a:t>
            </a:r>
            <a:endParaRPr lang="en-US" sz="1088" dirty="0"/>
          </a:p>
        </p:txBody>
      </p:sp>
      <p:sp>
        <p:nvSpPr>
          <p:cNvPr id="23" name="Shape 18"/>
          <p:cNvSpPr/>
          <p:nvPr/>
        </p:nvSpPr>
        <p:spPr>
          <a:xfrm>
            <a:off x="9525" y="6272213"/>
            <a:ext cx="3200400" cy="519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9525" y="6272213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5" name="Shape 20"/>
          <p:cNvSpPr/>
          <p:nvPr/>
        </p:nvSpPr>
        <p:spPr>
          <a:xfrm>
            <a:off x="1428750" y="6386513"/>
            <a:ext cx="361950" cy="38100"/>
          </a:xfrm>
          <a:prstGeom prst="roundRect">
            <a:avLst>
              <a:gd name="adj" fmla="val 50000"/>
            </a:avLst>
          </a:prstGeom>
          <a:solidFill>
            <a:srgbClr val="22201C">
              <a:alpha val="25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180975" y="6510338"/>
            <a:ext cx="6418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성지 </a:t>
            </a:r>
            <a:pPr algn="l" indent="0" marL="0">
              <a:buNone/>
            </a:pPr>
            <a:r>
              <a:rPr lang="en-US" sz="97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2169170" y="6510338"/>
            <a:ext cx="94550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스와이프하여 열기 ↑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42875" y="428625"/>
            <a:ext cx="2933700" cy="1562100"/>
          </a:xfrm>
          <a:prstGeom prst="roundRect">
            <a:avLst>
              <a:gd name="adj" fmla="val 7317"/>
            </a:avLst>
          </a:prstGeom>
          <a:solidFill>
            <a:srgbClr val="FFF4D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7650" y="5334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5524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2628900" y="5334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38438" y="642938"/>
            <a:ext cx="123825" cy="1238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14463" y="1809750"/>
            <a:ext cx="142875" cy="47625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1" name="Shape 8"/>
          <p:cNvSpPr/>
          <p:nvPr/>
        </p:nvSpPr>
        <p:spPr>
          <a:xfrm>
            <a:off x="1604963" y="1809750"/>
            <a:ext cx="76200" cy="76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220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28788" y="1809750"/>
            <a:ext cx="76200" cy="76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220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2875" y="2085975"/>
            <a:ext cx="358378" cy="209550"/>
          </a:xfrm>
          <a:prstGeom prst="rect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8125" y="2133600"/>
            <a:ext cx="2440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67928" y="2131219"/>
            <a:ext cx="88835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생일카페 · 성수동1가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142875" y="2362200"/>
            <a:ext cx="32270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29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어반소스 × 안유진 생일카페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42875" y="2681288"/>
            <a:ext cx="2933700" cy="661988"/>
          </a:xfrm>
          <a:prstGeom prst="roundRect">
            <a:avLst>
              <a:gd name="adj" fmla="val 17266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5750" y="2805113"/>
            <a:ext cx="69450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점유율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69022" y="2805113"/>
            <a:ext cx="24087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경합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85750" y="3019425"/>
            <a:ext cx="2647950" cy="200025"/>
          </a:xfrm>
          <a:prstGeom prst="roundRect">
            <a:avLst>
              <a:gd name="adj" fmla="val 23810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0038" y="3033713"/>
            <a:ext cx="1558305" cy="17145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22" name="Text 19"/>
          <p:cNvSpPr/>
          <p:nvPr/>
        </p:nvSpPr>
        <p:spPr>
          <a:xfrm>
            <a:off x="366713" y="3033713"/>
            <a:ext cx="15678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60%</a:t>
            </a:r>
            <a:endParaRPr lang="en-US" sz="713" dirty="0"/>
          </a:p>
        </p:txBody>
      </p:sp>
      <p:sp>
        <p:nvSpPr>
          <p:cNvPr id="23" name="Shape 20"/>
          <p:cNvSpPr/>
          <p:nvPr/>
        </p:nvSpPr>
        <p:spPr>
          <a:xfrm>
            <a:off x="1858342" y="3033713"/>
            <a:ext cx="1061070" cy="17145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24" name="Text 21"/>
          <p:cNvSpPr/>
          <p:nvPr/>
        </p:nvSpPr>
        <p:spPr>
          <a:xfrm>
            <a:off x="1782142" y="3033713"/>
            <a:ext cx="10705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7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 아이브</a:t>
            </a:r>
            <a:endParaRPr lang="en-US" sz="713" dirty="0"/>
          </a:p>
        </p:txBody>
      </p:sp>
      <p:sp>
        <p:nvSpPr>
          <p:cNvPr id="25" name="Shape 22"/>
          <p:cNvSpPr/>
          <p:nvPr/>
        </p:nvSpPr>
        <p:spPr>
          <a:xfrm>
            <a:off x="142875" y="3448050"/>
            <a:ext cx="2933700" cy="295275"/>
          </a:xfrm>
          <a:prstGeom prst="roundRect">
            <a:avLst>
              <a:gd name="adj" fmla="val 3225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1925" y="3467100"/>
            <a:ext cx="1438275" cy="257175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7" name="Text 24"/>
          <p:cNvSpPr/>
          <p:nvPr/>
        </p:nvSpPr>
        <p:spPr>
          <a:xfrm>
            <a:off x="123825" y="3533775"/>
            <a:ext cx="15144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 기여 현황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600200" y="3467100"/>
            <a:ext cx="19050" cy="257175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9" name="Text 26"/>
          <p:cNvSpPr/>
          <p:nvPr/>
        </p:nvSpPr>
        <p:spPr>
          <a:xfrm>
            <a:off x="1581150" y="3533775"/>
            <a:ext cx="15144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장소 이력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142875" y="3838575"/>
            <a:ext cx="2933700" cy="1600200"/>
          </a:xfrm>
          <a:prstGeom prst="roundRect">
            <a:avLst>
              <a:gd name="adj" fmla="val 7143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85750" y="4300538"/>
            <a:ext cx="2647950" cy="14288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" y="4018062"/>
            <a:ext cx="142875" cy="14287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4825" y="3962400"/>
            <a:ext cx="170267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성지의 수호신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04825" y="4100513"/>
            <a:ext cx="17026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1위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2128912" y="4019550"/>
            <a:ext cx="880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 · 15점</a:t>
            </a:r>
            <a:endParaRPr lang="en-US" sz="9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784" y="4580558"/>
            <a:ext cx="95250" cy="952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39986" y="4572000"/>
            <a:ext cx="32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럭키팬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609600" y="4724400"/>
            <a:ext cx="590550" cy="381000"/>
          </a:xfrm>
          <a:prstGeom prst="rect">
            <a:avLst/>
          </a:prstGeom>
          <a:solidFill>
            <a:srgbClr val="F3F0E8"/>
          </a:solidFill>
          <a:ln/>
        </p:spPr>
      </p:sp>
      <p:sp>
        <p:nvSpPr>
          <p:cNvPr id="39" name="Shape 34"/>
          <p:cNvSpPr/>
          <p:nvPr/>
        </p:nvSpPr>
        <p:spPr>
          <a:xfrm>
            <a:off x="609600" y="4724400"/>
            <a:ext cx="59055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0" name="Shape 35"/>
          <p:cNvSpPr/>
          <p:nvPr/>
        </p:nvSpPr>
        <p:spPr>
          <a:xfrm>
            <a:off x="609600" y="4724400"/>
            <a:ext cx="19050" cy="3810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1" name="Shape 36"/>
          <p:cNvSpPr/>
          <p:nvPr/>
        </p:nvSpPr>
        <p:spPr>
          <a:xfrm>
            <a:off x="1181100" y="4724400"/>
            <a:ext cx="19050" cy="3810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2" name="Text 37"/>
          <p:cNvSpPr/>
          <p:nvPr/>
        </p:nvSpPr>
        <p:spPr>
          <a:xfrm>
            <a:off x="590550" y="4743450"/>
            <a:ext cx="628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10점</a:t>
            </a:r>
            <a:endParaRPr lang="en-US" sz="825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5257" y="4428158"/>
            <a:ext cx="95250" cy="9525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462460" y="4419600"/>
            <a:ext cx="487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1295400" y="4572000"/>
            <a:ext cx="628650" cy="5334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46" name="Shape 40"/>
          <p:cNvSpPr/>
          <p:nvPr/>
        </p:nvSpPr>
        <p:spPr>
          <a:xfrm>
            <a:off x="1295400" y="4572000"/>
            <a:ext cx="62865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7" name="Shape 41"/>
          <p:cNvSpPr/>
          <p:nvPr/>
        </p:nvSpPr>
        <p:spPr>
          <a:xfrm>
            <a:off x="1295400" y="4572000"/>
            <a:ext cx="19050" cy="5334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8" name="Shape 42"/>
          <p:cNvSpPr/>
          <p:nvPr/>
        </p:nvSpPr>
        <p:spPr>
          <a:xfrm>
            <a:off x="1905000" y="4572000"/>
            <a:ext cx="19050" cy="5334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9" name="Text 43"/>
          <p:cNvSpPr/>
          <p:nvPr/>
        </p:nvSpPr>
        <p:spPr>
          <a:xfrm>
            <a:off x="1276350" y="4591050"/>
            <a:ext cx="6667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15점</a:t>
            </a:r>
            <a:endParaRPr lang="en-US" sz="9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73635" y="4675808"/>
            <a:ext cx="95250" cy="9525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2290837" y="4667250"/>
            <a:ext cx="240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57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핀아</a:t>
            </a:r>
            <a:endParaRPr lang="en-US" sz="750" dirty="0"/>
          </a:p>
        </p:txBody>
      </p:sp>
      <p:sp>
        <p:nvSpPr>
          <p:cNvPr id="52" name="Shape 45"/>
          <p:cNvSpPr/>
          <p:nvPr/>
        </p:nvSpPr>
        <p:spPr>
          <a:xfrm>
            <a:off x="2019300" y="4819650"/>
            <a:ext cx="590550" cy="285750"/>
          </a:xfrm>
          <a:prstGeom prst="rect">
            <a:avLst/>
          </a:prstGeom>
          <a:solidFill>
            <a:srgbClr val="F0DCC8"/>
          </a:solidFill>
          <a:ln/>
        </p:spPr>
      </p:sp>
      <p:sp>
        <p:nvSpPr>
          <p:cNvPr id="53" name="Shape 46"/>
          <p:cNvSpPr/>
          <p:nvPr/>
        </p:nvSpPr>
        <p:spPr>
          <a:xfrm>
            <a:off x="2019300" y="4819650"/>
            <a:ext cx="59055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54" name="Shape 47"/>
          <p:cNvSpPr/>
          <p:nvPr/>
        </p:nvSpPr>
        <p:spPr>
          <a:xfrm>
            <a:off x="2019300" y="4819650"/>
            <a:ext cx="19050" cy="2857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55" name="Shape 48"/>
          <p:cNvSpPr/>
          <p:nvPr/>
        </p:nvSpPr>
        <p:spPr>
          <a:xfrm>
            <a:off x="2590800" y="4819650"/>
            <a:ext cx="19050" cy="2857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56" name="Text 49"/>
          <p:cNvSpPr/>
          <p:nvPr/>
        </p:nvSpPr>
        <p:spPr>
          <a:xfrm>
            <a:off x="2000250" y="4838700"/>
            <a:ext cx="628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8점</a:t>
            </a:r>
            <a:endParaRPr lang="en-US" sz="825" dirty="0"/>
          </a:p>
        </p:txBody>
      </p:sp>
      <p:sp>
        <p:nvSpPr>
          <p:cNvPr id="57" name="Shape 50"/>
          <p:cNvSpPr/>
          <p:nvPr/>
        </p:nvSpPr>
        <p:spPr>
          <a:xfrm>
            <a:off x="285750" y="5105400"/>
            <a:ext cx="264795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58" name="Text 51"/>
          <p:cNvSpPr/>
          <p:nvPr/>
        </p:nvSpPr>
        <p:spPr>
          <a:xfrm>
            <a:off x="153353" y="5200650"/>
            <a:ext cx="29127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최근: [덕질마스터] +1점 기여 · 10분 전</a:t>
            </a:r>
            <a:endParaRPr lang="en-US" sz="750" dirty="0"/>
          </a:p>
        </p:txBody>
      </p:sp>
      <p:sp>
        <p:nvSpPr>
          <p:cNvPr id="59" name="Shape 52"/>
          <p:cNvSpPr/>
          <p:nvPr/>
        </p:nvSpPr>
        <p:spPr>
          <a:xfrm>
            <a:off x="142875" y="6086475"/>
            <a:ext cx="2933700" cy="476250"/>
          </a:xfrm>
          <a:prstGeom prst="roundRect">
            <a:avLst>
              <a:gd name="adj" fmla="val 26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6672" y="6260306"/>
            <a:ext cx="128588" cy="12858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005260" y="6246019"/>
            <a:ext cx="14137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성지에 내 팬덤 기여하기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" y="9525"/>
            <a:ext cx="3200400" cy="25770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" y="2315319"/>
            <a:ext cx="3200400" cy="44760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9525" y="2315319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2429619"/>
            <a:ext cx="361950" cy="38100"/>
          </a:xfrm>
          <a:prstGeom prst="roundRect">
            <a:avLst>
              <a:gd name="adj" fmla="val 50000"/>
            </a:avLst>
          </a:prstGeom>
          <a:solidFill>
            <a:srgbClr val="22201C">
              <a:alpha val="2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2524869"/>
            <a:ext cx="76200" cy="76200"/>
          </a:xfrm>
          <a:prstGeom prst="ellipse">
            <a:avLst/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43050" y="2524869"/>
            <a:ext cx="133350" cy="47625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11" name="Shape 8"/>
          <p:cNvSpPr/>
          <p:nvPr/>
        </p:nvSpPr>
        <p:spPr>
          <a:xfrm>
            <a:off x="1714500" y="2524869"/>
            <a:ext cx="76200" cy="76200"/>
          </a:xfrm>
          <a:prstGeom prst="ellipse">
            <a:avLst/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925" y="2696319"/>
            <a:ext cx="1170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반경 200m 성지 </a:t>
            </a:r>
            <a:pPr algn="l" indent="0" marL="0">
              <a:buNone/>
            </a:pPr>
            <a:r>
              <a:rPr lang="en-US" sz="112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694756" y="2734419"/>
            <a:ext cx="4389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거리순 ▾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161925" y="2972544"/>
            <a:ext cx="2895600" cy="685800"/>
          </a:xfrm>
          <a:prstGeom prst="roundRect">
            <a:avLst>
              <a:gd name="adj" fmla="val 1666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5275" y="3086844"/>
            <a:ext cx="457200" cy="457200"/>
          </a:xfrm>
          <a:prstGeom prst="rect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6225" y="310589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857250" y="3174950"/>
            <a:ext cx="1715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어반소스 × 안유진 생일카페</a:t>
            </a:r>
            <a:endParaRPr lang="en-US" sz="938" dirty="0"/>
          </a:p>
        </p:txBody>
      </p:sp>
      <p:sp>
        <p:nvSpPr>
          <p:cNvPr id="18" name="Text 15"/>
          <p:cNvSpPr/>
          <p:nvPr/>
        </p:nvSpPr>
        <p:spPr>
          <a:xfrm>
            <a:off x="857250" y="3336875"/>
            <a:ext cx="17154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80m · 생일카페 · </a:t>
            </a:r>
            <a:pPr algn="l" indent="0" marL="0">
              <a:buNone/>
            </a:pPr>
            <a:r>
              <a:rPr lang="en-US" sz="788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D-2</a:t>
            </a:r>
            <a:endParaRPr lang="en-US" sz="788" dirty="0"/>
          </a:p>
        </p:txBody>
      </p:sp>
      <p:sp>
        <p:nvSpPr>
          <p:cNvPr id="19" name="Shape 16"/>
          <p:cNvSpPr/>
          <p:nvPr/>
        </p:nvSpPr>
        <p:spPr>
          <a:xfrm>
            <a:off x="2521521" y="3215432"/>
            <a:ext cx="402654" cy="200025"/>
          </a:xfrm>
          <a:prstGeom prst="rect">
            <a:avLst/>
          </a:prstGeom>
          <a:solidFill>
            <a:srgbClr val="FFF4DD"/>
          </a:solidFill>
          <a:ln w="14288">
            <a:solidFill>
              <a:srgbClr val="2220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12008" y="3258294"/>
            <a:ext cx="2978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61925" y="3744069"/>
            <a:ext cx="2895600" cy="685800"/>
          </a:xfrm>
          <a:prstGeom prst="roundRect">
            <a:avLst>
              <a:gd name="adj" fmla="val 1666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5275" y="3858369"/>
            <a:ext cx="457200" cy="457200"/>
          </a:xfrm>
          <a:prstGeom prst="rect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6225" y="387741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7250" y="3946475"/>
            <a:ext cx="17300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언더스탠드 카페</a:t>
            </a:r>
            <a:endParaRPr lang="en-US" sz="938" dirty="0"/>
          </a:p>
        </p:txBody>
      </p:sp>
      <p:sp>
        <p:nvSpPr>
          <p:cNvPr id="25" name="Text 22"/>
          <p:cNvSpPr/>
          <p:nvPr/>
        </p:nvSpPr>
        <p:spPr>
          <a:xfrm>
            <a:off x="857250" y="4108400"/>
            <a:ext cx="173009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140m · 상설 성지</a:t>
            </a:r>
            <a:endParaRPr lang="en-US" sz="788" dirty="0"/>
          </a:p>
        </p:txBody>
      </p:sp>
      <p:sp>
        <p:nvSpPr>
          <p:cNvPr id="26" name="Shape 23"/>
          <p:cNvSpPr/>
          <p:nvPr/>
        </p:nvSpPr>
        <p:spPr>
          <a:xfrm>
            <a:off x="2534841" y="3986957"/>
            <a:ext cx="389334" cy="200025"/>
          </a:xfrm>
          <a:prstGeom prst="rect">
            <a:avLst/>
          </a:prstGeom>
          <a:solidFill>
            <a:srgbClr val="E8EFFC"/>
          </a:solidFill>
          <a:ln w="14288">
            <a:solidFill>
              <a:srgbClr val="2220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25328" y="4029819"/>
            <a:ext cx="28455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74%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61925" y="4515594"/>
            <a:ext cx="2895600" cy="685800"/>
          </a:xfrm>
          <a:prstGeom prst="roundRect">
            <a:avLst>
              <a:gd name="adj" fmla="val 1666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5275" y="4629894"/>
            <a:ext cx="457200" cy="457200"/>
          </a:xfrm>
          <a:prstGeom prst="rect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6225" y="464894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857250" y="4718000"/>
            <a:ext cx="17237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연방극장 팝업</a:t>
            </a:r>
            <a:endParaRPr lang="en-US" sz="938" dirty="0"/>
          </a:p>
        </p:txBody>
      </p:sp>
      <p:sp>
        <p:nvSpPr>
          <p:cNvPr id="32" name="Text 29"/>
          <p:cNvSpPr/>
          <p:nvPr/>
        </p:nvSpPr>
        <p:spPr>
          <a:xfrm>
            <a:off x="857250" y="4879925"/>
            <a:ext cx="17237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190m · 팝업스토어 · D-6</a:t>
            </a:r>
            <a:endParaRPr lang="en-US" sz="788" dirty="0"/>
          </a:p>
        </p:txBody>
      </p:sp>
      <p:sp>
        <p:nvSpPr>
          <p:cNvPr id="33" name="Shape 30"/>
          <p:cNvSpPr/>
          <p:nvPr/>
        </p:nvSpPr>
        <p:spPr>
          <a:xfrm>
            <a:off x="2529036" y="4758482"/>
            <a:ext cx="395139" cy="200025"/>
          </a:xfrm>
          <a:prstGeom prst="rect">
            <a:avLst/>
          </a:prstGeom>
          <a:solidFill>
            <a:srgbClr val="FDEEF4"/>
          </a:solidFill>
          <a:ln w="14288">
            <a:solidFill>
              <a:srgbClr val="2220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19524" y="4801344"/>
            <a:ext cx="2903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52%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9525" y="9525"/>
            <a:ext cx="3200400" cy="6781800"/>
          </a:xfrm>
          <a:prstGeom prst="rect">
            <a:avLst/>
          </a:prstGeom>
          <a:solidFill>
            <a:srgbClr val="22201C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" y="1501453"/>
            <a:ext cx="3200400" cy="5289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" y="1501453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8" name="Shape 6"/>
          <p:cNvSpPr/>
          <p:nvPr/>
        </p:nvSpPr>
        <p:spPr>
          <a:xfrm>
            <a:off x="1428750" y="1634803"/>
            <a:ext cx="361950" cy="38100"/>
          </a:xfrm>
          <a:prstGeom prst="roundRect">
            <a:avLst>
              <a:gd name="adj" fmla="val 50000"/>
            </a:avLst>
          </a:prstGeom>
          <a:solidFill>
            <a:srgbClr val="22201C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1925" y="1787203"/>
            <a:ext cx="31851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 팬덤 필터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925" y="2082478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선호 IP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61925" y="2277740"/>
            <a:ext cx="819448" cy="309563"/>
          </a:xfrm>
          <a:prstGeom prst="roundRect">
            <a:avLst>
              <a:gd name="adj" fmla="val 30769"/>
            </a:avLst>
          </a:prstGeom>
          <a:solidFill>
            <a:srgbClr val="22201C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275" y="2394421"/>
            <a:ext cx="76200" cy="7620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8625" y="2363465"/>
            <a:ext cx="495598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7573" y="2277740"/>
            <a:ext cx="696441" cy="309563"/>
          </a:xfrm>
          <a:prstGeom prst="roundRect">
            <a:avLst>
              <a:gd name="adj" fmla="val 3076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90923" y="2394421"/>
            <a:ext cx="76200" cy="76200"/>
          </a:xfrm>
          <a:prstGeom prst="ellipse">
            <a:avLst/>
          </a:prstGeom>
          <a:solidFill>
            <a:srgbClr val="E6498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4273" y="2363465"/>
            <a:ext cx="372591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30214" y="2277740"/>
            <a:ext cx="696441" cy="309563"/>
          </a:xfrm>
          <a:prstGeom prst="roundRect">
            <a:avLst>
              <a:gd name="adj" fmla="val 3076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3564" y="2394421"/>
            <a:ext cx="76200" cy="76200"/>
          </a:xfrm>
          <a:prstGeom prst="ellipse">
            <a:avLst/>
          </a:prstGeom>
          <a:solidFill>
            <a:srgbClr val="F59F00"/>
          </a:solidFill>
          <a:ln/>
        </p:spPr>
      </p:sp>
      <p:sp>
        <p:nvSpPr>
          <p:cNvPr id="19" name="Text 17"/>
          <p:cNvSpPr/>
          <p:nvPr/>
        </p:nvSpPr>
        <p:spPr>
          <a:xfrm>
            <a:off x="2096914" y="2363465"/>
            <a:ext cx="372591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1925" y="2711128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878410"/>
            <a:ext cx="123825" cy="1238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4825" y="2870671"/>
            <a:ext cx="9345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팬덤/아티스트 검색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1925" y="331120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인기 팬덤 순위</a:t>
            </a:r>
            <a:endParaRPr lang="en-US" sz="788" dirty="0"/>
          </a:p>
        </p:txBody>
      </p:sp>
      <p:sp>
        <p:nvSpPr>
          <p:cNvPr id="24" name="Shape 21"/>
          <p:cNvSpPr/>
          <p:nvPr/>
        </p:nvSpPr>
        <p:spPr>
          <a:xfrm>
            <a:off x="161925" y="3982715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5" name="Text 22"/>
          <p:cNvSpPr/>
          <p:nvPr/>
        </p:nvSpPr>
        <p:spPr>
          <a:xfrm>
            <a:off x="161925" y="3661246"/>
            <a:ext cx="209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400050" y="357314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1000" y="359219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828675" y="3606478"/>
            <a:ext cx="2181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버니즈</a:t>
            </a:r>
            <a:endParaRPr lang="en-US" sz="938" dirty="0"/>
          </a:p>
        </p:txBody>
      </p:sp>
      <p:sp>
        <p:nvSpPr>
          <p:cNvPr id="29" name="Text 26"/>
          <p:cNvSpPr/>
          <p:nvPr/>
        </p:nvSpPr>
        <p:spPr>
          <a:xfrm>
            <a:off x="828675" y="3749353"/>
            <a:ext cx="21814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점령 8구 · 성지 42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916585" y="3677915"/>
            <a:ext cx="2171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▲1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61925" y="4492303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2" name="Text 29"/>
          <p:cNvSpPr/>
          <p:nvPr/>
        </p:nvSpPr>
        <p:spPr>
          <a:xfrm>
            <a:off x="161925" y="4170834"/>
            <a:ext cx="209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400050" y="4082728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1000" y="410177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28675" y="4116065"/>
            <a:ext cx="2181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 · 마이</a:t>
            </a:r>
            <a:endParaRPr lang="en-US" sz="938" dirty="0"/>
          </a:p>
        </p:txBody>
      </p:sp>
      <p:sp>
        <p:nvSpPr>
          <p:cNvPr id="36" name="Text 33"/>
          <p:cNvSpPr/>
          <p:nvPr/>
        </p:nvSpPr>
        <p:spPr>
          <a:xfrm>
            <a:off x="828675" y="4258940"/>
            <a:ext cx="21814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점령 7구 · 성지 38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916585" y="4187503"/>
            <a:ext cx="2171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▼1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61925" y="4680421"/>
            <a:ext cx="209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400050" y="459231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1000" y="461136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4A37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IVE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828675" y="4625653"/>
            <a:ext cx="22862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· 다이브</a:t>
            </a:r>
            <a:endParaRPr lang="en-US" sz="938" dirty="0"/>
          </a:p>
        </p:txBody>
      </p:sp>
      <p:sp>
        <p:nvSpPr>
          <p:cNvPr id="42" name="Text 39"/>
          <p:cNvSpPr/>
          <p:nvPr/>
        </p:nvSpPr>
        <p:spPr>
          <a:xfrm>
            <a:off x="828675" y="4768528"/>
            <a:ext cx="228622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점령 5구 · 성지 29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3011835" y="4697090"/>
            <a:ext cx="1218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161925" y="6124575"/>
            <a:ext cx="2895600" cy="457200"/>
          </a:xfrm>
          <a:prstGeom prst="roundRect">
            <a:avLst>
              <a:gd name="adj" fmla="val 25000"/>
            </a:avLst>
          </a:prstGeom>
          <a:solidFill>
            <a:srgbClr val="22201C"/>
          </a:solidFill>
          <a:ln/>
        </p:spPr>
      </p:sp>
      <p:sp>
        <p:nvSpPr>
          <p:cNvPr id="45" name="Text 42"/>
          <p:cNvSpPr/>
          <p:nvPr/>
        </p:nvSpPr>
        <p:spPr>
          <a:xfrm>
            <a:off x="118491" y="6124575"/>
            <a:ext cx="298246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팬덤만 지도에 표시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590550"/>
            <a:ext cx="8464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성지 제보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695575" y="50482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6525" y="5238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61925" y="98107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장소 유형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161925" y="1166813"/>
            <a:ext cx="2895600" cy="323850"/>
          </a:xfrm>
          <a:prstGeom prst="roundRect">
            <a:avLst>
              <a:gd name="adj" fmla="val 29412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975" y="1185863"/>
            <a:ext cx="939775" cy="2857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1" name="Text 9"/>
          <p:cNvSpPr/>
          <p:nvPr/>
        </p:nvSpPr>
        <p:spPr>
          <a:xfrm>
            <a:off x="142875" y="1262063"/>
            <a:ext cx="1015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팝업스토어</a:t>
            </a:r>
            <a:endParaRPr lang="en-US" sz="863" dirty="0"/>
          </a:p>
        </p:txBody>
      </p:sp>
      <p:sp>
        <p:nvSpPr>
          <p:cNvPr id="12" name="Shape 10"/>
          <p:cNvSpPr/>
          <p:nvPr/>
        </p:nvSpPr>
        <p:spPr>
          <a:xfrm>
            <a:off x="1120750" y="1185863"/>
            <a:ext cx="19050" cy="2857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3" name="Text 11"/>
          <p:cNvSpPr/>
          <p:nvPr/>
        </p:nvSpPr>
        <p:spPr>
          <a:xfrm>
            <a:off x="1101700" y="1262063"/>
            <a:ext cx="1016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생일카페</a:t>
            </a:r>
            <a:endParaRPr lang="en-US" sz="863" dirty="0"/>
          </a:p>
        </p:txBody>
      </p:sp>
      <p:sp>
        <p:nvSpPr>
          <p:cNvPr id="14" name="Shape 12"/>
          <p:cNvSpPr/>
          <p:nvPr/>
        </p:nvSpPr>
        <p:spPr>
          <a:xfrm>
            <a:off x="2079650" y="1185863"/>
            <a:ext cx="19050" cy="2857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5" name="Text 13"/>
          <p:cNvSpPr/>
          <p:nvPr/>
        </p:nvSpPr>
        <p:spPr>
          <a:xfrm>
            <a:off x="2060600" y="1262063"/>
            <a:ext cx="1015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161925" y="160496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 팬덤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61925" y="1790700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800" y="1976438"/>
            <a:ext cx="85725" cy="85725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6725" y="1947863"/>
            <a:ext cx="10836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(NewJeans)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2642443" y="1957388"/>
            <a:ext cx="3484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▾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61925" y="2362200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상호명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161925" y="2547938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800" y="2705100"/>
            <a:ext cx="8239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어반소스 성수점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161925" y="3119438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61925" y="3305175"/>
            <a:ext cx="2035746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800" y="3464719"/>
            <a:ext cx="92072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검색으로 입력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73871" y="3305175"/>
            <a:ext cx="783654" cy="457200"/>
          </a:xfrm>
          <a:prstGeom prst="roundRect">
            <a:avLst>
              <a:gd name="adj" fmla="val 22917"/>
            </a:avLst>
          </a:prstGeom>
          <a:solidFill>
            <a:srgbClr val="FAE1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6746" y="3324225"/>
            <a:ext cx="5741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C1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검색</a:t>
            </a:r>
            <a:endParaRPr lang="en-US" sz="863" dirty="0"/>
          </a:p>
        </p:txBody>
      </p:sp>
      <p:sp>
        <p:nvSpPr>
          <p:cNvPr id="29" name="Text 27"/>
          <p:cNvSpPr/>
          <p:nvPr/>
        </p:nvSpPr>
        <p:spPr>
          <a:xfrm>
            <a:off x="161925" y="387667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기간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61925" y="4062412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4229695"/>
            <a:ext cx="123825" cy="12382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14350" y="4219575"/>
            <a:ext cx="13191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07.20 (월) ~ 07.27 (월)</a:t>
            </a:r>
            <a:endParaRPr lang="en-US" sz="938" dirty="0"/>
          </a:p>
        </p:txBody>
      </p:sp>
      <p:sp>
        <p:nvSpPr>
          <p:cNvPr id="33" name="Text 30"/>
          <p:cNvSpPr/>
          <p:nvPr/>
        </p:nvSpPr>
        <p:spPr>
          <a:xfrm>
            <a:off x="161925" y="463391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증빙 자료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161925" y="4819650"/>
            <a:ext cx="1404938" cy="666750"/>
          </a:xfrm>
          <a:prstGeom prst="roundRect">
            <a:avLst>
              <a:gd name="adj" fmla="val 15714"/>
            </a:avLst>
          </a:prstGeom>
          <a:ln w="19050">
            <a:solidFill>
              <a:srgbClr val="22201C"/>
            </a:solidFill>
            <a:prstDash val="dash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194" y="5002857"/>
            <a:ext cx="152400" cy="1524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47551" y="5200650"/>
            <a:ext cx="50981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첨부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1652588" y="4819650"/>
            <a:ext cx="1404938" cy="666750"/>
          </a:xfrm>
          <a:prstGeom prst="roundRect">
            <a:avLst>
              <a:gd name="adj" fmla="val 15714"/>
            </a:avLst>
          </a:prstGeom>
          <a:ln w="19050">
            <a:solidFill>
              <a:srgbClr val="22201C"/>
            </a:solidFill>
            <a:prstDash val="dash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8856" y="5002857"/>
            <a:ext cx="152400" cy="1524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179439" y="5200650"/>
            <a:ext cx="4274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사진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161925" y="608647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118491" y="6086475"/>
            <a:ext cx="29824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제보 제출하기</a:t>
            </a:r>
            <a:endParaRPr lang="en-US" sz="10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22201C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50482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238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06711" y="604838"/>
            <a:ext cx="6823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인증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5575" y="50482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4638" y="623888"/>
            <a:ext cx="123825" cy="1238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2425" y="1057275"/>
            <a:ext cx="2514600" cy="3638550"/>
          </a:xfrm>
          <a:prstGeom prst="roundRect">
            <a:avLst>
              <a:gd name="adj" fmla="val 378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33375" y="1038225"/>
            <a:ext cx="357188" cy="3333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2" name="Shape 9"/>
          <p:cNvSpPr/>
          <p:nvPr/>
        </p:nvSpPr>
        <p:spPr>
          <a:xfrm>
            <a:off x="333375" y="1038225"/>
            <a:ext cx="33338" cy="3571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8888" y="1038225"/>
            <a:ext cx="357188" cy="3333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2738" y="1038225"/>
            <a:ext cx="33338" cy="3571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5" name="Shape 12"/>
          <p:cNvSpPr/>
          <p:nvPr/>
        </p:nvSpPr>
        <p:spPr>
          <a:xfrm>
            <a:off x="333375" y="4681538"/>
            <a:ext cx="357188" cy="3333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375" y="4357688"/>
            <a:ext cx="33338" cy="3571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7" name="Shape 14"/>
          <p:cNvSpPr/>
          <p:nvPr/>
        </p:nvSpPr>
        <p:spPr>
          <a:xfrm>
            <a:off x="2528888" y="4681538"/>
            <a:ext cx="357188" cy="3333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8" name="Shape 15"/>
          <p:cNvSpPr/>
          <p:nvPr/>
        </p:nvSpPr>
        <p:spPr>
          <a:xfrm>
            <a:off x="2852738" y="4357688"/>
            <a:ext cx="33338" cy="3571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9" name="Shape 16"/>
          <p:cNvSpPr/>
          <p:nvPr/>
        </p:nvSpPr>
        <p:spPr>
          <a:xfrm>
            <a:off x="805086" y="1457548"/>
            <a:ext cx="1609279" cy="2838004"/>
          </a:xfrm>
          <a:prstGeom prst="roundRect">
            <a:avLst>
              <a:gd name="adj" fmla="val 2959"/>
            </a:avLst>
          </a:prstGeom>
          <a:blipFill>
            <a:blip r:embed="rId3"/>
            <a:tile tx="0" ty="0" sx="100000" sy="100000" flip="none" algn="tl"/>
          </a:blipFill>
          <a:ln/>
          <a:effectLst>
            <a:outerShdw sx="100000" sy="100000" kx="0" ky="0" algn="bl" rotWithShape="0" blurRad="285750" dist="95250" dir="5400000">
              <a:srgbClr val="000000">
                <a:alpha val="3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26695" y="4938713"/>
            <a:ext cx="276606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1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영수증을 프레임 안에 맞춰주세요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525" y="5514975"/>
            <a:ext cx="3200400" cy="1276350"/>
          </a:xfrm>
          <a:prstGeom prst="rect">
            <a:avLst/>
          </a:prstGeom>
          <a:solidFill>
            <a:srgbClr val="22201C">
              <a:alpha val="9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525" y="5514975"/>
            <a:ext cx="32004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238125" y="5767388"/>
            <a:ext cx="514350" cy="514350"/>
          </a:xfrm>
          <a:prstGeom prst="roundRect">
            <a:avLst>
              <a:gd name="adj" fmla="val 22222"/>
            </a:avLst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813" y="5934075"/>
            <a:ext cx="180975" cy="1809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00025" y="6329363"/>
            <a:ext cx="590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C2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갤러리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1209675" y="5705475"/>
            <a:ext cx="800100" cy="800100"/>
          </a:xfrm>
          <a:prstGeom prst="ellipse">
            <a:avLst/>
          </a:prstGeom>
          <a:ln w="28575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300163" y="5795963"/>
            <a:ext cx="619125" cy="619125"/>
          </a:xfrm>
          <a:prstGeom prst="ellipse">
            <a:avLst/>
          </a:prstGeom>
          <a:solidFill>
            <a:srgbClr val="FFE14D"/>
          </a:solidFill>
          <a:ln w="23813">
            <a:solidFill>
              <a:srgbClr val="22201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466975" y="5767388"/>
            <a:ext cx="514350" cy="514350"/>
          </a:xfrm>
          <a:prstGeom prst="roundRect">
            <a:avLst>
              <a:gd name="adj" fmla="val 22222"/>
            </a:avLst>
          </a:prstGeom>
          <a:ln w="19050">
            <a:solidFill>
              <a:srgbClr val="6B6558">
                <a:alpha val="60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6"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3663" y="5934075"/>
            <a:ext cx="180975" cy="1809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428875" y="6329363"/>
            <a:ext cx="590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5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플래시 OFF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-150495" y="542925"/>
            <a:ext cx="3520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영수증을 읽고 있어요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-150495" y="771525"/>
            <a:ext cx="35204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6초 · 자리를 떠나도 괜찮아요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581025" y="1152525"/>
            <a:ext cx="2057400" cy="2419350"/>
          </a:xfrm>
          <a:prstGeom prst="roundRect">
            <a:avLst>
              <a:gd name="adj" fmla="val 4630"/>
            </a:avLst>
          </a:prstGeom>
          <a:blipFill>
            <a:blip r:embed="rId1"/>
            <a:tile tx="0" ty="0" sx="100000" sy="100000" flip="none" algn="tl"/>
          </a:blipFill>
          <a:ln w="19050">
            <a:solidFill>
              <a:srgbClr val="2220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0075" y="2076450"/>
            <a:ext cx="2019300" cy="28575"/>
          </a:xfrm>
          <a:prstGeom prst="rect">
            <a:avLst/>
          </a:prstGeom>
          <a:solidFill>
            <a:srgbClr val="00B8A0"/>
          </a:solidFill>
          <a:ln/>
          <a:effectLst>
            <a:outerShdw sx="100000" sy="100000" kx="0" ky="0" algn="bl" rotWithShape="0" blurRad="133350" dist="50800" dir="16200000">
              <a:srgbClr val="00B8A0">
                <a:alpha val="8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0075" y="1171575"/>
            <a:ext cx="2019300" cy="904875"/>
          </a:xfrm>
          <a:prstGeom prst="rect">
            <a:avLst/>
          </a:prstGeom>
          <a:solidFill>
            <a:srgbClr val="00B8A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4375" y="1266825"/>
            <a:ext cx="1074390" cy="76200"/>
          </a:xfrm>
          <a:prstGeom prst="roundRect">
            <a:avLst>
              <a:gd name="adj" fmla="val 25000"/>
            </a:avLst>
          </a:prstGeom>
          <a:solidFill>
            <a:srgbClr val="22201C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4375" y="1409700"/>
            <a:ext cx="787896" cy="57150"/>
          </a:xfrm>
          <a:prstGeom prst="roundRect">
            <a:avLst>
              <a:gd name="adj" fmla="val 33333"/>
            </a:avLst>
          </a:prstGeom>
          <a:solidFill>
            <a:srgbClr val="22201C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4375" y="1533525"/>
            <a:ext cx="931143" cy="57150"/>
          </a:xfrm>
          <a:prstGeom prst="roundRect">
            <a:avLst>
              <a:gd name="adj" fmla="val 33333"/>
            </a:avLst>
          </a:prstGeom>
          <a:solidFill>
            <a:srgbClr val="22201C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1925" y="3781425"/>
            <a:ext cx="2895600" cy="1524000"/>
          </a:xfrm>
          <a:prstGeom prst="roundRect">
            <a:avLst>
              <a:gd name="adj" fmla="val 7500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325" y="3914775"/>
            <a:ext cx="284988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79" kern="0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파이프라인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314325" y="4371975"/>
            <a:ext cx="25908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314325" y="4176712"/>
            <a:ext cx="57016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사업자번호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0635" y="4183856"/>
            <a:ext cx="8806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211-88-*****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314325" y="4638675"/>
            <a:ext cx="25908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9" name="Text 17"/>
          <p:cNvSpPr/>
          <p:nvPr/>
        </p:nvSpPr>
        <p:spPr>
          <a:xfrm>
            <a:off x="314325" y="4443413"/>
            <a:ext cx="49768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일시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01094" y="4450556"/>
            <a:ext cx="7802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07.22 14:03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14325" y="4905375"/>
            <a:ext cx="25908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2" name="Text 20"/>
          <p:cNvSpPr/>
          <p:nvPr/>
        </p:nvSpPr>
        <p:spPr>
          <a:xfrm>
            <a:off x="314325" y="4710113"/>
            <a:ext cx="49768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금액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46796" y="4822031"/>
            <a:ext cx="123825" cy="19050"/>
          </a:xfrm>
          <a:prstGeom prst="rect">
            <a:avLst/>
          </a:prstGeom>
          <a:solidFill>
            <a:srgbClr val="C98A00"/>
          </a:solidFill>
          <a:ln/>
        </p:spPr>
      </p:sp>
      <p:sp>
        <p:nvSpPr>
          <p:cNvPr id="24" name="Shape 22"/>
          <p:cNvSpPr/>
          <p:nvPr/>
        </p:nvSpPr>
        <p:spPr>
          <a:xfrm>
            <a:off x="2346796" y="4717256"/>
            <a:ext cx="19050" cy="123825"/>
          </a:xfrm>
          <a:prstGeom prst="rect">
            <a:avLst/>
          </a:prstGeom>
          <a:solidFill>
            <a:srgbClr val="C98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2451571" y="4717256"/>
            <a:ext cx="19050" cy="123825"/>
          </a:xfrm>
          <a:prstGeom prst="rect">
            <a:avLst/>
          </a:prstGeom>
          <a:solidFill>
            <a:srgbClr val="C98A00"/>
          </a:solidFill>
          <a:ln/>
        </p:spPr>
      </p:sp>
      <p:sp>
        <p:nvSpPr>
          <p:cNvPr id="26" name="Text 24"/>
          <p:cNvSpPr/>
          <p:nvPr/>
        </p:nvSpPr>
        <p:spPr>
          <a:xfrm>
            <a:off x="2518246" y="4717256"/>
            <a:ext cx="463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중…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14325" y="4976813"/>
            <a:ext cx="47133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승인번호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24001" y="4983956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161925" y="6243638"/>
            <a:ext cx="2895600" cy="104775"/>
          </a:xfrm>
          <a:prstGeom prst="roundRect">
            <a:avLst>
              <a:gd name="adj" fmla="val 45455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6213" y="6257925"/>
            <a:ext cx="1662857" cy="76200"/>
          </a:xfrm>
          <a:prstGeom prst="rect">
            <a:avLst/>
          </a:prstGeom>
          <a:solidFill>
            <a:srgbClr val="00B8A0"/>
          </a:solidFill>
          <a:ln/>
        </p:spPr>
      </p:sp>
      <p:sp>
        <p:nvSpPr>
          <p:cNvPr id="31" name="Text 29"/>
          <p:cNvSpPr/>
          <p:nvPr/>
        </p:nvSpPr>
        <p:spPr>
          <a:xfrm>
            <a:off x="17145" y="642461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2/4 필드 추출 완료 · 58%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" y="295275"/>
            <a:ext cx="32004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1100" y="1076325"/>
            <a:ext cx="857250" cy="857250"/>
          </a:xfrm>
          <a:prstGeom prst="ellipse">
            <a:avLst/>
          </a:prstGeom>
          <a:solidFill>
            <a:srgbClr val="FFE14D"/>
          </a:solidFill>
          <a:ln w="28575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53882" dir="2700000">
              <a:srgbClr val="22201C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8750" y="1323975"/>
            <a:ext cx="361950" cy="361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-150495" y="2085975"/>
            <a:ext cx="35204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spc="-34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완료!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-38481" y="2414588"/>
            <a:ext cx="329641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938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</a:t>
            </a:r>
            <a:pPr algn="ctr" indent="0" marL="0">
              <a:lnSpc>
                <a:spcPct val="129167"/>
              </a:lnSpc>
              <a:buNone/>
            </a:pPr>
            <a:r>
              <a:rPr lang="en-US" sz="938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</a:t>
            </a:r>
            <a:pPr algn="ctr" indent="0" marL="0">
              <a:lnSpc>
                <a:spcPct val="129167"/>
              </a:lnSpc>
              <a:buNone/>
            </a:pPr>
            <a:r>
              <a:rPr lang="en-US" sz="938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점유율이 </a:t>
            </a:r>
            <a:pPr algn="ctr" indent="0" marL="0">
              <a:lnSpc>
                <a:spcPct val="129167"/>
              </a:lnSpc>
              <a:buNone/>
            </a:pPr>
            <a:r>
              <a:rPr lang="en-US" sz="938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+0.4% </a:t>
            </a:r>
            <a:pPr algn="ctr" indent="0" marL="0">
              <a:lnSpc>
                <a:spcPct val="129167"/>
              </a:lnSpc>
              <a:buNone/>
            </a:pPr>
            <a:r>
              <a:rPr lang="en-US" sz="938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상승했습니다!</a:t>
            </a:r>
            <a:endParaRPr lang="en-US" sz="938" dirty="0"/>
          </a:p>
        </p:txBody>
      </p:sp>
      <p:sp>
        <p:nvSpPr>
          <p:cNvPr id="10" name="Shape 6"/>
          <p:cNvSpPr/>
          <p:nvPr/>
        </p:nvSpPr>
        <p:spPr>
          <a:xfrm>
            <a:off x="161925" y="3152775"/>
            <a:ext cx="2895600" cy="1114425"/>
          </a:xfrm>
          <a:prstGeom prst="roundRect">
            <a:avLst>
              <a:gd name="adj" fmla="val 11111"/>
            </a:avLst>
          </a:prstGeom>
          <a:solidFill>
            <a:srgbClr val="FFFBE8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4325" y="3286125"/>
            <a:ext cx="476250" cy="476250"/>
          </a:xfrm>
          <a:prstGeom prst="ellipse">
            <a:avLst/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438" y="3424238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5350" y="3383756"/>
            <a:ext cx="22107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뱃지 획득 · 마포구 수호신</a:t>
            </a:r>
            <a:endParaRPr lang="en-US" sz="938" dirty="0"/>
          </a:p>
        </p:txBody>
      </p:sp>
      <p:sp>
        <p:nvSpPr>
          <p:cNvPr id="14" name="Text 9"/>
          <p:cNvSpPr/>
          <p:nvPr/>
        </p:nvSpPr>
        <p:spPr>
          <a:xfrm>
            <a:off x="895350" y="3545681"/>
            <a:ext cx="221075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마포구 인증 1위를 지키고 있어요</a:t>
            </a:r>
            <a:endParaRPr lang="en-US" sz="788" dirty="0"/>
          </a:p>
        </p:txBody>
      </p:sp>
      <p:sp>
        <p:nvSpPr>
          <p:cNvPr id="15" name="Shape 10"/>
          <p:cNvSpPr/>
          <p:nvPr/>
        </p:nvSpPr>
        <p:spPr>
          <a:xfrm>
            <a:off x="314325" y="3867150"/>
            <a:ext cx="2590800" cy="104775"/>
          </a:xfrm>
          <a:prstGeom prst="roundRect">
            <a:avLst>
              <a:gd name="adj" fmla="val 45455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28613" y="3881438"/>
            <a:ext cx="1614190" cy="76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7" name="Shape 12"/>
          <p:cNvSpPr/>
          <p:nvPr/>
        </p:nvSpPr>
        <p:spPr>
          <a:xfrm>
            <a:off x="1942802" y="3881438"/>
            <a:ext cx="947961" cy="7620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18" name="Text 13"/>
          <p:cNvSpPr/>
          <p:nvPr/>
        </p:nvSpPr>
        <p:spPr>
          <a:xfrm>
            <a:off x="314325" y="4019550"/>
            <a:ext cx="9801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62.6 → 63.0%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353717" y="4019550"/>
            <a:ext cx="6276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37.0%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161925" y="5486400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721" y="5660231"/>
            <a:ext cx="128588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6309" y="5645944"/>
            <a:ext cx="105154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지도에서 내 땅 확인</a:t>
            </a:r>
            <a:endParaRPr lang="en-US" sz="1013" dirty="0"/>
          </a:p>
        </p:txBody>
      </p:sp>
      <p:sp>
        <p:nvSpPr>
          <p:cNvPr id="23" name="Shape 17"/>
          <p:cNvSpPr/>
          <p:nvPr/>
        </p:nvSpPr>
        <p:spPr>
          <a:xfrm>
            <a:off x="161925" y="6048375"/>
            <a:ext cx="2895600" cy="495300"/>
          </a:xfrm>
          <a:prstGeom prst="roundRect">
            <a:avLst>
              <a:gd name="adj" fmla="val 23077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9034" y="6234113"/>
            <a:ext cx="123825" cy="1238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2859" y="6222206"/>
            <a:ext cx="7736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승리 카드 공유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9525" y="9525"/>
            <a:ext cx="3200400" cy="6781800"/>
          </a:xfrm>
          <a:prstGeom prst="rect">
            <a:avLst/>
          </a:prstGeom>
          <a:solidFill>
            <a:srgbClr val="22201C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" y="3039517"/>
            <a:ext cx="3200400" cy="3751808"/>
          </a:xfrm>
          <a:custGeom>
            <a:avLst/>
            <a:gdLst/>
            <a:ahLst/>
            <a:cxnLst/>
            <a:rect l="l" t="t" r="r" b="b"/>
            <a:pathLst>
              <a:path w="3200400" h="3751808">
                <a:moveTo>
                  <a:pt x="190500" y="0"/>
                </a:moveTo>
                <a:lnTo>
                  <a:pt x="3009900" y="0"/>
                </a:lnTo>
                <a:arcTo hR="190500" wR="190500" stAng="16200000" swAng="5400000"/>
                <a:lnTo>
                  <a:pt x="3200400" y="3751808"/>
                </a:lnTo>
                <a:lnTo>
                  <a:pt x="0" y="3751808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" y="3039517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8" name="Shape 6"/>
          <p:cNvSpPr/>
          <p:nvPr/>
        </p:nvSpPr>
        <p:spPr>
          <a:xfrm>
            <a:off x="1428750" y="3191917"/>
            <a:ext cx="361950" cy="38100"/>
          </a:xfrm>
          <a:prstGeom prst="roundRect">
            <a:avLst>
              <a:gd name="adj" fmla="val 50000"/>
            </a:avLst>
          </a:prstGeom>
          <a:solidFill>
            <a:srgbClr val="22201C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3401467"/>
            <a:ext cx="819150" cy="819150"/>
          </a:xfrm>
          <a:prstGeom prst="ellipse">
            <a:avLst/>
          </a:prstGeom>
          <a:solidFill>
            <a:srgbClr val="EEF4FF"/>
          </a:solidFill>
          <a:ln w="28575">
            <a:solidFill>
              <a:srgbClr val="22201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8275" y="3639592"/>
            <a:ext cx="342900" cy="342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055" y="4353967"/>
            <a:ext cx="310134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꼼꼼히 확인하고 있어요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57734" y="4634954"/>
            <a:ext cx="2903982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414"/>
              </a:lnSpc>
              <a:buNone/>
            </a:pPr>
            <a:r>
              <a:rPr lang="en-US" sz="900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판단하기 어려운 영수증이라 10분 내로 관리자 확인 후 반영됩니다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0025" y="5153025"/>
            <a:ext cx="2819400" cy="742950"/>
          </a:xfrm>
          <a:prstGeom prst="roundRect">
            <a:avLst>
              <a:gd name="adj" fmla="val 15385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" y="5276850"/>
            <a:ext cx="5748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대기열</a:t>
            </a:r>
            <a:endParaRPr lang="en-US" sz="863" dirty="0"/>
          </a:p>
        </p:txBody>
      </p:sp>
      <p:sp>
        <p:nvSpPr>
          <p:cNvPr id="15" name="Text 12"/>
          <p:cNvSpPr/>
          <p:nvPr/>
        </p:nvSpPr>
        <p:spPr>
          <a:xfrm>
            <a:off x="2378050" y="5276850"/>
            <a:ext cx="574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앞에 3건</a:t>
            </a:r>
            <a:endParaRPr lang="en-US" sz="863" dirty="0"/>
          </a:p>
        </p:txBody>
      </p:sp>
      <p:sp>
        <p:nvSpPr>
          <p:cNvPr id="16" name="Shape 13"/>
          <p:cNvSpPr/>
          <p:nvPr/>
        </p:nvSpPr>
        <p:spPr>
          <a:xfrm>
            <a:off x="342900" y="5495925"/>
            <a:ext cx="2533650" cy="95250"/>
          </a:xfrm>
          <a:prstGeom prst="roundRect">
            <a:avLst>
              <a:gd name="adj" fmla="val 40000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7188" y="5510213"/>
            <a:ext cx="876746" cy="666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8" name="Text 15"/>
          <p:cNvSpPr/>
          <p:nvPr/>
        </p:nvSpPr>
        <p:spPr>
          <a:xfrm>
            <a:off x="342900" y="5657850"/>
            <a:ext cx="32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502" y="5666408"/>
            <a:ext cx="95250" cy="952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0300" y="5657850"/>
            <a:ext cx="1742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푸시로 알려드려요 · 승인 시 점유율 자동 반영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200025" y="6048375"/>
            <a:ext cx="2819400" cy="457200"/>
          </a:xfrm>
          <a:prstGeom prst="roundRect">
            <a:avLst>
              <a:gd name="adj" fmla="val 25000"/>
            </a:avLst>
          </a:prstGeom>
          <a:solidFill>
            <a:srgbClr val="22201C"/>
          </a:solidFill>
          <a:ln/>
        </p:spPr>
      </p:sp>
      <p:sp>
        <p:nvSpPr>
          <p:cNvPr id="22" name="Text 18"/>
          <p:cNvSpPr/>
          <p:nvPr/>
        </p:nvSpPr>
        <p:spPr>
          <a:xfrm>
            <a:off x="157734" y="6048375"/>
            <a:ext cx="29039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확인했어요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9525" y="9525"/>
            <a:ext cx="3200400" cy="6781800"/>
          </a:xfrm>
          <a:prstGeom prst="rect">
            <a:avLst/>
          </a:prstGeom>
          <a:solidFill>
            <a:srgbClr val="22201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9075" y="1606897"/>
            <a:ext cx="2781300" cy="358705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80822" dir="2700000">
              <a:srgbClr val="22201C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7775" y="1835497"/>
            <a:ext cx="723900" cy="723900"/>
          </a:xfrm>
          <a:prstGeom prst="ellipse">
            <a:avLst/>
          </a:prstGeom>
          <a:solidFill>
            <a:srgbClr val="FDEEE9"/>
          </a:solidFill>
          <a:ln w="28575">
            <a:solidFill>
              <a:srgbClr val="C0492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7325" y="2045047"/>
            <a:ext cx="3048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9560" y="2673697"/>
            <a:ext cx="264033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인증이 반려됐어요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9575" y="3011835"/>
            <a:ext cx="2400300" cy="747713"/>
          </a:xfrm>
          <a:prstGeom prst="roundRect">
            <a:avLst>
              <a:gd name="adj" fmla="val 14013"/>
            </a:avLst>
          </a:prstGeom>
          <a:solidFill>
            <a:srgbClr val="FDF6F4"/>
          </a:solidFill>
          <a:ln w="19050">
            <a:solidFill>
              <a:srgbClr val="C049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925" y="3126135"/>
            <a:ext cx="23469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47" kern="0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 사유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542925" y="3302347"/>
            <a:ext cx="2209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최신성 만료 — 결제일이 7일을 초과했어요 (07.11 결제)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9575" y="3854797"/>
            <a:ext cx="24765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00"/>
              </a:lnSpc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방문 후 7일 이내 영수증만 인정돼요 · 같은 영수증은 한 번만 사용할 수 있어요</a:t>
            </a:r>
            <a:endParaRPr lang="en-US" sz="788" dirty="0"/>
          </a:p>
        </p:txBody>
      </p:sp>
      <p:sp>
        <p:nvSpPr>
          <p:cNvPr id="14" name="Shape 11"/>
          <p:cNvSpPr/>
          <p:nvPr/>
        </p:nvSpPr>
        <p:spPr>
          <a:xfrm>
            <a:off x="409575" y="4308128"/>
            <a:ext cx="2400300" cy="457200"/>
          </a:xfrm>
          <a:prstGeom prst="roundRect">
            <a:avLst>
              <a:gd name="adj" fmla="val 25000"/>
            </a:avLst>
          </a:prstGeom>
          <a:solidFill>
            <a:srgbClr val="22201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2875" y="4474815"/>
            <a:ext cx="123825" cy="1238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36700" y="4462909"/>
            <a:ext cx="7460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촬영하기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289560" y="4870103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이의 신청하기</a:t>
            </a:r>
            <a:endParaRPr lang="en-US" sz="86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05100" cy="4781550"/>
          </a:xfrm>
          <a:prstGeom prst="roundRect">
            <a:avLst>
              <a:gd name="adj" fmla="val 4930"/>
            </a:avLst>
          </a:prstGeom>
          <a:ln w="19050">
            <a:solidFill>
              <a:srgbClr val="22201C"/>
            </a:solidFill>
            <a:prstDash val="solid"/>
          </a:ln>
          <a:effectLst>
            <a:outerShdw sx="100000" sy="100000" kx="0" ky="0" algn="bl" rotWithShape="0" blurRad="419100" dist="1905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9050" y="19050"/>
            <a:ext cx="2667000" cy="4743450"/>
          </a:xfrm>
          <a:prstGeom prst="rect">
            <a:avLst/>
          </a:prstGeom>
          <a:gradFill rotWithShape="1">
            <a:gsLst>
              <a:gs pos="0">
                <a:srgbClr val="2F6BFF">
                  <a:alpha val="14000"/>
                </a:srgbClr>
              </a:gs>
              <a:gs pos="100000">
                <a:srgbClr val="2F6BFF">
                  <a:alpha val="0"/>
                </a:srgbClr>
              </a:gs>
            </a:gsLst>
            <a:path path="circle">
              <a:fillToRect l="30000" t="20000" r="70000" b="8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209550" y="190500"/>
            <a:ext cx="13690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FANDOM CONQUEST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859" y="192881"/>
            <a:ext cx="559891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2026.07.22</a:t>
            </a:r>
            <a:endParaRPr lang="en-US" sz="713" dirty="0"/>
          </a:p>
        </p:txBody>
      </p:sp>
      <p:sp>
        <p:nvSpPr>
          <p:cNvPr id="6" name="Shape 4"/>
          <p:cNvSpPr/>
          <p:nvPr/>
        </p:nvSpPr>
        <p:spPr>
          <a:xfrm>
            <a:off x="209550" y="514350"/>
            <a:ext cx="839763" cy="252413"/>
          </a:xfrm>
          <a:prstGeom prst="roundRect">
            <a:avLst>
              <a:gd name="adj" fmla="val 33962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" y="590550"/>
            <a:ext cx="100013" cy="1000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1012" y="581025"/>
            <a:ext cx="53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역전의 주역</a:t>
            </a:r>
            <a:endParaRPr lang="en-US" sz="788" dirty="0"/>
          </a:p>
        </p:txBody>
      </p:sp>
      <p:sp>
        <p:nvSpPr>
          <p:cNvPr id="9" name="Text 6"/>
          <p:cNvSpPr/>
          <p:nvPr/>
        </p:nvSpPr>
        <p:spPr>
          <a:xfrm>
            <a:off x="209550" y="881063"/>
            <a:ext cx="2362200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25"/>
              </a:lnSpc>
              <a:buNone/>
            </a:pPr>
            <a:r>
              <a:rPr lang="en-US" sz="2550" b="1" spc="-76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마포구를 </a:t>
            </a:r>
            <a:pPr algn="l" indent="0" marL="0">
              <a:lnSpc>
                <a:spcPct val="94025"/>
              </a:lnSpc>
              <a:buNone/>
            </a:pPr>
            <a:r>
              <a:rPr lang="en-US" sz="2550" b="1" spc="-76" kern="0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</a:t>
            </a:r>
            <a:pPr algn="l" indent="0" marL="0">
              <a:lnSpc>
                <a:spcPct val="94025"/>
              </a:lnSpc>
              <a:buNone/>
            </a:pPr>
            <a:r>
              <a:rPr lang="en-US" sz="2550" b="1" spc="-76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탈환했다!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209550" y="2064395"/>
            <a:ext cx="2514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덕질마스터의 인증 1건으로 뒤집힘</a:t>
            </a:r>
            <a:endParaRPr lang="en-US" sz="863" dirty="0"/>
          </a:p>
        </p:txBody>
      </p:sp>
      <p:sp>
        <p:nvSpPr>
          <p:cNvPr id="11" name="Shape 8"/>
          <p:cNvSpPr/>
          <p:nvPr/>
        </p:nvSpPr>
        <p:spPr>
          <a:xfrm>
            <a:off x="209550" y="2514600"/>
            <a:ext cx="22860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950" y="2676525"/>
            <a:ext cx="6430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점유율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772989" y="2657475"/>
            <a:ext cx="64636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+0.4%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61950" y="2943225"/>
            <a:ext cx="5029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915" y="2962275"/>
            <a:ext cx="18060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45518" y="2852738"/>
            <a:ext cx="8238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50.2%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61950" y="3214688"/>
            <a:ext cx="1981200" cy="133350"/>
          </a:xfrm>
          <a:prstGeom prst="roundRect">
            <a:avLst>
              <a:gd name="adj" fmla="val 4285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" y="3233738"/>
            <a:ext cx="975420" cy="9525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356420" y="3233738"/>
            <a:ext cx="967606" cy="9525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20" name="Text 17"/>
          <p:cNvSpPr/>
          <p:nvPr/>
        </p:nvSpPr>
        <p:spPr>
          <a:xfrm>
            <a:off x="361950" y="3395663"/>
            <a:ext cx="526331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50.2</a:t>
            </a:r>
            <a:endParaRPr lang="en-US" sz="713" dirty="0"/>
          </a:p>
        </p:txBody>
      </p:sp>
      <p:sp>
        <p:nvSpPr>
          <p:cNvPr id="21" name="Text 18"/>
          <p:cNvSpPr/>
          <p:nvPr/>
        </p:nvSpPr>
        <p:spPr>
          <a:xfrm>
            <a:off x="1891457" y="3395663"/>
            <a:ext cx="5278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49.8</a:t>
            </a:r>
            <a:endParaRPr lang="en-US" sz="713" dirty="0"/>
          </a:p>
        </p:txBody>
      </p:sp>
      <p:sp>
        <p:nvSpPr>
          <p:cNvPr id="22" name="Shape 19"/>
          <p:cNvSpPr/>
          <p:nvPr/>
        </p:nvSpPr>
        <p:spPr>
          <a:xfrm>
            <a:off x="209550" y="3829050"/>
            <a:ext cx="438150" cy="43815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0500" y="384810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742950" y="3924300"/>
            <a:ext cx="142494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4070300"/>
            <a:ext cx="90488" cy="904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54869" y="4062412"/>
            <a:ext cx="1006227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수호신 · 인증 43건</a:t>
            </a:r>
            <a:endParaRPr lang="en-US" sz="713" dirty="0"/>
          </a:p>
        </p:txBody>
      </p:sp>
      <p:sp>
        <p:nvSpPr>
          <p:cNvPr id="27" name="Shape 23"/>
          <p:cNvSpPr/>
          <p:nvPr/>
        </p:nvSpPr>
        <p:spPr>
          <a:xfrm>
            <a:off x="2133600" y="38671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14550" y="38862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09550" y="4405313"/>
            <a:ext cx="22860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30" name="Text 26"/>
          <p:cNvSpPr/>
          <p:nvPr/>
        </p:nvSpPr>
        <p:spPr>
          <a:xfrm>
            <a:off x="209550" y="4510088"/>
            <a:ext cx="1017984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#팬덤땅따먹기 #마포구탈환</a:t>
            </a:r>
            <a:endParaRPr lang="en-US" sz="675" dirty="0"/>
          </a:p>
        </p:txBody>
      </p:sp>
      <p:sp>
        <p:nvSpPr>
          <p:cNvPr id="31" name="Text 27"/>
          <p:cNvSpPr/>
          <p:nvPr/>
        </p:nvSpPr>
        <p:spPr>
          <a:xfrm>
            <a:off x="2012007" y="4510088"/>
            <a:ext cx="559743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fandom.app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485775"/>
            <a:ext cx="7572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전황 보드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2002" y="576263"/>
            <a:ext cx="57172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LIVE 잠정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71488" y="885825"/>
            <a:ext cx="533400" cy="533400"/>
          </a:xfrm>
          <a:prstGeom prst="rect">
            <a:avLst/>
          </a:prstGeom>
          <a:solidFill>
            <a:srgbClr val="A9C4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309" y="1035844"/>
            <a:ext cx="2338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76424" y="11834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3343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은평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1052513" y="885825"/>
            <a:ext cx="533400" cy="533400"/>
          </a:xfrm>
          <a:prstGeom prst="rect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7729" y="1035844"/>
            <a:ext cx="2390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57449" y="11834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DBE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강북</a:t>
            </a:r>
            <a:endParaRPr lang="en-US" sz="563" dirty="0"/>
          </a:p>
        </p:txBody>
      </p:sp>
      <p:sp>
        <p:nvSpPr>
          <p:cNvPr id="13" name="Shape 11"/>
          <p:cNvSpPr/>
          <p:nvPr/>
        </p:nvSpPr>
        <p:spPr>
          <a:xfrm>
            <a:off x="1633538" y="885825"/>
            <a:ext cx="5334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7117" y="1035844"/>
            <a:ext cx="24236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802755" y="1183481"/>
            <a:ext cx="1997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노원</a:t>
            </a:r>
            <a:endParaRPr lang="en-US" sz="563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6282" y="1188690"/>
            <a:ext cx="71438" cy="7143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214563" y="885825"/>
            <a:ext cx="533400" cy="533400"/>
          </a:xfrm>
          <a:prstGeom prst="rect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00598" y="1035844"/>
            <a:ext cx="2374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2419499" y="11834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FFF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중랑</a:t>
            </a:r>
            <a:endParaRPr lang="en-US" sz="563" dirty="0"/>
          </a:p>
        </p:txBody>
      </p:sp>
      <p:sp>
        <p:nvSpPr>
          <p:cNvPr id="20" name="Shape 17"/>
          <p:cNvSpPr/>
          <p:nvPr/>
        </p:nvSpPr>
        <p:spPr>
          <a:xfrm>
            <a:off x="461963" y="1466850"/>
            <a:ext cx="533400" cy="533400"/>
          </a:xfrm>
          <a:prstGeom prst="rect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030" y="1616869"/>
            <a:ext cx="2393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666899" y="1764506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DBE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</a:t>
            </a:r>
            <a:endParaRPr lang="en-US" sz="563" dirty="0"/>
          </a:p>
        </p:txBody>
      </p:sp>
      <p:sp>
        <p:nvSpPr>
          <p:cNvPr id="23" name="Shape 20"/>
          <p:cNvSpPr/>
          <p:nvPr/>
        </p:nvSpPr>
        <p:spPr>
          <a:xfrm>
            <a:off x="1042988" y="1466850"/>
            <a:ext cx="533400" cy="533400"/>
          </a:xfrm>
          <a:prstGeom prst="rect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29469" y="1616869"/>
            <a:ext cx="23656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1247924" y="1764506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FBD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성북</a:t>
            </a:r>
            <a:endParaRPr lang="en-US" sz="563" dirty="0"/>
          </a:p>
        </p:txBody>
      </p:sp>
      <p:sp>
        <p:nvSpPr>
          <p:cNvPr id="26" name="Shape 23"/>
          <p:cNvSpPr/>
          <p:nvPr/>
        </p:nvSpPr>
        <p:spPr>
          <a:xfrm>
            <a:off x="1624013" y="1466850"/>
            <a:ext cx="552450" cy="552450"/>
          </a:xfrm>
          <a:prstGeom prst="rect">
            <a:avLst/>
          </a:prstGeom>
          <a:solidFill>
            <a:srgbClr val="2F6BFF"/>
          </a:solidFill>
          <a:ln w="28575">
            <a:solidFill>
              <a:srgbClr val="C0492F"/>
            </a:solidFill>
            <a:prstDash val="solid"/>
          </a:ln>
          <a:effectLst>
            <a:outerShdw sx="100000" sy="100000" kx="0" ky="0" algn="bl" rotWithShape="0" blurRad="101600" dist="40411" dir="2700000">
              <a:srgbClr val="C0492F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816522" y="1619250"/>
            <a:ext cx="2435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802755" y="1781175"/>
            <a:ext cx="1997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DBE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</a:t>
            </a:r>
            <a:endParaRPr lang="en-US" sz="563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6282" y="1786384"/>
            <a:ext cx="71438" cy="7143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2224088" y="1466850"/>
            <a:ext cx="533400" cy="533400"/>
          </a:xfrm>
          <a:prstGeom prst="rect">
            <a:avLst/>
          </a:prstGeom>
          <a:solidFill>
            <a:srgbClr val="FFD6E6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420466" y="1616869"/>
            <a:ext cx="21684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2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2429024" y="1764506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8A2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광진</a:t>
            </a:r>
            <a:endParaRPr lang="en-US" sz="563" dirty="0"/>
          </a:p>
        </p:txBody>
      </p:sp>
      <p:sp>
        <p:nvSpPr>
          <p:cNvPr id="33" name="Shape 29"/>
          <p:cNvSpPr/>
          <p:nvPr/>
        </p:nvSpPr>
        <p:spPr>
          <a:xfrm>
            <a:off x="471488" y="2066925"/>
            <a:ext cx="533400" cy="533400"/>
          </a:xfrm>
          <a:prstGeom prst="rect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67866" y="2216944"/>
            <a:ext cx="21684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75" dirty="0"/>
          </a:p>
        </p:txBody>
      </p:sp>
      <p:sp>
        <p:nvSpPr>
          <p:cNvPr id="35" name="Text 31"/>
          <p:cNvSpPr/>
          <p:nvPr/>
        </p:nvSpPr>
        <p:spPr>
          <a:xfrm>
            <a:off x="676424" y="23645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FFF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강서</a:t>
            </a:r>
            <a:endParaRPr lang="en-US" sz="563" dirty="0"/>
          </a:p>
        </p:txBody>
      </p:sp>
      <p:sp>
        <p:nvSpPr>
          <p:cNvPr id="36" name="Shape 32"/>
          <p:cNvSpPr/>
          <p:nvPr/>
        </p:nvSpPr>
        <p:spPr>
          <a:xfrm>
            <a:off x="1052513" y="2066925"/>
            <a:ext cx="5334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235571" y="2216944"/>
            <a:ext cx="2434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6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75" dirty="0"/>
          </a:p>
        </p:txBody>
      </p:sp>
      <p:sp>
        <p:nvSpPr>
          <p:cNvPr id="38" name="Text 34"/>
          <p:cNvSpPr/>
          <p:nvPr/>
        </p:nvSpPr>
        <p:spPr>
          <a:xfrm>
            <a:off x="1221730" y="2364581"/>
            <a:ext cx="1997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관악</a:t>
            </a:r>
            <a:endParaRPr lang="en-US" sz="563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5257" y="2369790"/>
            <a:ext cx="71438" cy="7143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1633538" y="2066925"/>
            <a:ext cx="533400" cy="533400"/>
          </a:xfrm>
          <a:prstGeom prst="rect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828949" y="2216944"/>
            <a:ext cx="21877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975" dirty="0"/>
          </a:p>
        </p:txBody>
      </p:sp>
      <p:sp>
        <p:nvSpPr>
          <p:cNvPr id="42" name="Text 37"/>
          <p:cNvSpPr/>
          <p:nvPr/>
        </p:nvSpPr>
        <p:spPr>
          <a:xfrm>
            <a:off x="1838474" y="23645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FBD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</a:t>
            </a:r>
            <a:endParaRPr lang="en-US" sz="563" dirty="0"/>
          </a:p>
        </p:txBody>
      </p:sp>
      <p:sp>
        <p:nvSpPr>
          <p:cNvPr id="43" name="Shape 38"/>
          <p:cNvSpPr/>
          <p:nvPr/>
        </p:nvSpPr>
        <p:spPr>
          <a:xfrm>
            <a:off x="2214563" y="2066925"/>
            <a:ext cx="533400" cy="533400"/>
          </a:xfrm>
          <a:prstGeom prst="rect">
            <a:avLst/>
          </a:prstGeom>
          <a:solidFill>
            <a:srgbClr val="ECEAD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451199" y="2216944"/>
            <a:ext cx="1363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975" dirty="0"/>
          </a:p>
        </p:txBody>
      </p:sp>
      <p:sp>
        <p:nvSpPr>
          <p:cNvPr id="45" name="Text 40"/>
          <p:cNvSpPr/>
          <p:nvPr/>
        </p:nvSpPr>
        <p:spPr>
          <a:xfrm>
            <a:off x="2419499" y="2364581"/>
            <a:ext cx="19972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중립</a:t>
            </a:r>
            <a:endParaRPr lang="en-US" sz="563" dirty="0"/>
          </a:p>
        </p:txBody>
      </p:sp>
      <p:sp>
        <p:nvSpPr>
          <p:cNvPr id="46" name="Text 41"/>
          <p:cNvSpPr/>
          <p:nvPr/>
        </p:nvSpPr>
        <p:spPr>
          <a:xfrm>
            <a:off x="708645" y="2705100"/>
            <a:ext cx="6032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8구</a:t>
            </a:r>
            <a:endParaRPr lang="en-US" sz="713" dirty="0"/>
          </a:p>
        </p:txBody>
      </p:sp>
      <p:sp>
        <p:nvSpPr>
          <p:cNvPr id="47" name="Text 42"/>
          <p:cNvSpPr/>
          <p:nvPr/>
        </p:nvSpPr>
        <p:spPr>
          <a:xfrm>
            <a:off x="1350020" y="2705100"/>
            <a:ext cx="59709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 7구</a:t>
            </a:r>
            <a:endParaRPr lang="en-US" sz="713" dirty="0"/>
          </a:p>
        </p:txBody>
      </p:sp>
      <p:sp>
        <p:nvSpPr>
          <p:cNvPr id="48" name="Text 43"/>
          <p:cNvSpPr/>
          <p:nvPr/>
        </p:nvSpPr>
        <p:spPr>
          <a:xfrm>
            <a:off x="1985218" y="2705100"/>
            <a:ext cx="60178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5구</a:t>
            </a:r>
            <a:endParaRPr lang="en-US" sz="713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925" y="3164012"/>
            <a:ext cx="114300" cy="11430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301749" y="3152775"/>
            <a:ext cx="102423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치열한 경합구 Top 3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161925" y="3357563"/>
            <a:ext cx="920725" cy="433388"/>
          </a:xfrm>
          <a:prstGeom prst="roundRect">
            <a:avLst>
              <a:gd name="adj" fmla="val 2197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266700" y="3452813"/>
            <a:ext cx="7873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노원구</a:t>
            </a:r>
            <a:endParaRPr lang="en-US" sz="825" dirty="0"/>
          </a:p>
        </p:txBody>
      </p:sp>
      <p:sp>
        <p:nvSpPr>
          <p:cNvPr id="53" name="Text 47"/>
          <p:cNvSpPr/>
          <p:nvPr/>
        </p:nvSpPr>
        <p:spPr>
          <a:xfrm>
            <a:off x="266700" y="3595688"/>
            <a:ext cx="78737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0.8%p</a:t>
            </a:r>
            <a:endParaRPr lang="en-US" sz="675" dirty="0"/>
          </a:p>
        </p:txBody>
      </p:sp>
      <p:sp>
        <p:nvSpPr>
          <p:cNvPr id="54" name="Shape 48"/>
          <p:cNvSpPr/>
          <p:nvPr/>
        </p:nvSpPr>
        <p:spPr>
          <a:xfrm>
            <a:off x="1149325" y="3357563"/>
            <a:ext cx="920800" cy="433388"/>
          </a:xfrm>
          <a:prstGeom prst="roundRect">
            <a:avLst>
              <a:gd name="adj" fmla="val 2197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1254100" y="3452813"/>
            <a:ext cx="787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관악구</a:t>
            </a:r>
            <a:endParaRPr lang="en-US" sz="825" dirty="0"/>
          </a:p>
        </p:txBody>
      </p:sp>
      <p:sp>
        <p:nvSpPr>
          <p:cNvPr id="56" name="Text 50"/>
          <p:cNvSpPr/>
          <p:nvPr/>
        </p:nvSpPr>
        <p:spPr>
          <a:xfrm>
            <a:off x="1254100" y="3595688"/>
            <a:ext cx="7874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1.2%p</a:t>
            </a:r>
            <a:endParaRPr lang="en-US" sz="675" dirty="0"/>
          </a:p>
        </p:txBody>
      </p:sp>
      <p:sp>
        <p:nvSpPr>
          <p:cNvPr id="57" name="Shape 51"/>
          <p:cNvSpPr/>
          <p:nvPr/>
        </p:nvSpPr>
        <p:spPr>
          <a:xfrm>
            <a:off x="2136800" y="3357563"/>
            <a:ext cx="920725" cy="433388"/>
          </a:xfrm>
          <a:prstGeom prst="roundRect">
            <a:avLst>
              <a:gd name="adj" fmla="val 2197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2241575" y="3452813"/>
            <a:ext cx="7873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광진구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2241575" y="3595688"/>
            <a:ext cx="78737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2.1%p</a:t>
            </a:r>
            <a:endParaRPr lang="en-US" sz="675" dirty="0"/>
          </a:p>
        </p:txBody>
      </p:sp>
      <p:sp>
        <p:nvSpPr>
          <p:cNvPr id="60" name="Text 54"/>
          <p:cNvSpPr/>
          <p:nvPr/>
        </p:nvSpPr>
        <p:spPr>
          <a:xfrm>
            <a:off x="161925" y="3905250"/>
            <a:ext cx="318516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뒤집힘 타임라인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209550" y="4110038"/>
            <a:ext cx="19050" cy="900113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62" name="Text 56"/>
          <p:cNvSpPr/>
          <p:nvPr/>
        </p:nvSpPr>
        <p:spPr>
          <a:xfrm>
            <a:off x="342900" y="4110038"/>
            <a:ext cx="29860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 → </a:t>
            </a:r>
            <a:pPr algn="l" indent="0" marL="0">
              <a:buNone/>
            </a:pPr>
            <a:r>
              <a:rPr lang="en-US" sz="863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</a:t>
            </a:r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탈환</a:t>
            </a:r>
            <a:endParaRPr lang="en-US" sz="863" dirty="0"/>
          </a:p>
        </p:txBody>
      </p:sp>
      <p:sp>
        <p:nvSpPr>
          <p:cNvPr id="63" name="Text 57"/>
          <p:cNvSpPr/>
          <p:nvPr/>
        </p:nvSpPr>
        <p:spPr>
          <a:xfrm>
            <a:off x="342900" y="4243388"/>
            <a:ext cx="298608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 인증 1건으로 역전 · 2분 전</a:t>
            </a:r>
            <a:endParaRPr lang="en-US" sz="713" dirty="0"/>
          </a:p>
        </p:txBody>
      </p:sp>
      <p:sp>
        <p:nvSpPr>
          <p:cNvPr id="64" name="Text 58"/>
          <p:cNvSpPr/>
          <p:nvPr/>
        </p:nvSpPr>
        <p:spPr>
          <a:xfrm>
            <a:off x="342900" y="4438650"/>
            <a:ext cx="29860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노원구 → </a:t>
            </a:r>
            <a:pPr algn="l" indent="0" marL="0">
              <a:buNone/>
            </a:pPr>
            <a:r>
              <a:rPr lang="en-US" sz="863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</a:t>
            </a:r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우세 전환</a:t>
            </a:r>
            <a:endParaRPr lang="en-US" sz="863" dirty="0"/>
          </a:p>
        </p:txBody>
      </p:sp>
      <p:sp>
        <p:nvSpPr>
          <p:cNvPr id="65" name="Text 59"/>
          <p:cNvSpPr/>
          <p:nvPr/>
        </p:nvSpPr>
        <p:spPr>
          <a:xfrm>
            <a:off x="342900" y="4572000"/>
            <a:ext cx="298608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경합 진입 · 14분 전</a:t>
            </a:r>
            <a:endParaRPr lang="en-US" sz="713" dirty="0"/>
          </a:p>
        </p:txBody>
      </p:sp>
      <p:sp>
        <p:nvSpPr>
          <p:cNvPr id="66" name="Text 60"/>
          <p:cNvSpPr/>
          <p:nvPr/>
        </p:nvSpPr>
        <p:spPr>
          <a:xfrm>
            <a:off x="342900" y="4767263"/>
            <a:ext cx="29860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→ </a:t>
            </a:r>
            <a:pPr algn="l" indent="0" marL="0">
              <a:buNone/>
            </a:pPr>
            <a:r>
              <a:rPr lang="en-US" sz="863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</a:t>
            </a:r>
            <a:pPr algn="l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수성</a:t>
            </a:r>
            <a:endParaRPr lang="en-US" sz="863" dirty="0"/>
          </a:p>
        </p:txBody>
      </p:sp>
      <p:sp>
        <p:nvSpPr>
          <p:cNvPr id="67" name="Text 61"/>
          <p:cNvSpPr/>
          <p:nvPr/>
        </p:nvSpPr>
        <p:spPr>
          <a:xfrm>
            <a:off x="342900" y="4900613"/>
            <a:ext cx="298608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13.4%p로 확대 · 1시간 전</a:t>
            </a:r>
            <a:endParaRPr lang="en-US" sz="713" dirty="0"/>
          </a:p>
        </p:txBody>
      </p:sp>
      <p:sp>
        <p:nvSpPr>
          <p:cNvPr id="68" name="Shape 62"/>
          <p:cNvSpPr/>
          <p:nvPr/>
        </p:nvSpPr>
        <p:spPr>
          <a:xfrm>
            <a:off x="9525" y="6219825"/>
            <a:ext cx="32004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3"/>
          <p:cNvSpPr/>
          <p:nvPr/>
        </p:nvSpPr>
        <p:spPr>
          <a:xfrm>
            <a:off x="9525" y="6219825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70" name="Text 64"/>
          <p:cNvSpPr/>
          <p:nvPr/>
        </p:nvSpPr>
        <p:spPr>
          <a:xfrm>
            <a:off x="-28575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</a:t>
            </a:r>
            <a:endParaRPr lang="en-US" sz="713" dirty="0"/>
          </a:p>
        </p:txBody>
      </p:sp>
      <p:sp>
        <p:nvSpPr>
          <p:cNvPr id="71" name="Text 65"/>
          <p:cNvSpPr/>
          <p:nvPr/>
        </p:nvSpPr>
        <p:spPr>
          <a:xfrm>
            <a:off x="611460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전황</a:t>
            </a:r>
            <a:endParaRPr lang="en-US" sz="713" dirty="0"/>
          </a:p>
        </p:txBody>
      </p:sp>
      <p:sp>
        <p:nvSpPr>
          <p:cNvPr id="72" name="Text 66"/>
          <p:cNvSpPr/>
          <p:nvPr/>
        </p:nvSpPr>
        <p:spPr>
          <a:xfrm>
            <a:off x="1251570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713" dirty="0"/>
          </a:p>
        </p:txBody>
      </p:sp>
      <p:sp>
        <p:nvSpPr>
          <p:cNvPr id="73" name="Text 67"/>
          <p:cNvSpPr/>
          <p:nvPr/>
        </p:nvSpPr>
        <p:spPr>
          <a:xfrm>
            <a:off x="189160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</a:t>
            </a:r>
            <a:endParaRPr lang="en-US" sz="713" dirty="0"/>
          </a:p>
        </p:txBody>
      </p:sp>
      <p:sp>
        <p:nvSpPr>
          <p:cNvPr id="74" name="Text 68"/>
          <p:cNvSpPr/>
          <p:nvPr/>
        </p:nvSpPr>
        <p:spPr>
          <a:xfrm>
            <a:off x="253171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</a:t>
            </a:r>
            <a:endParaRPr lang="en-US" sz="71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485775"/>
            <a:ext cx="31851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1925" y="819150"/>
            <a:ext cx="2895600" cy="304800"/>
          </a:xfrm>
          <a:prstGeom prst="roundRect">
            <a:avLst>
              <a:gd name="adj" fmla="val 31250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975" y="838200"/>
            <a:ext cx="1419225" cy="2667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" y="904875"/>
            <a:ext cx="14954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개인 랭킹</a:t>
            </a:r>
            <a:endParaRPr lang="en-US" sz="863" dirty="0"/>
          </a:p>
        </p:txBody>
      </p:sp>
      <p:sp>
        <p:nvSpPr>
          <p:cNvPr id="9" name="Shape 7"/>
          <p:cNvSpPr/>
          <p:nvPr/>
        </p:nvSpPr>
        <p:spPr>
          <a:xfrm>
            <a:off x="1600200" y="838200"/>
            <a:ext cx="19050" cy="2667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0" name="Text 8"/>
          <p:cNvSpPr/>
          <p:nvPr/>
        </p:nvSpPr>
        <p:spPr>
          <a:xfrm>
            <a:off x="1581150" y="904875"/>
            <a:ext cx="14954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 영토 랭킹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358750" y="1833563"/>
            <a:ext cx="495300" cy="495300"/>
          </a:xfrm>
          <a:prstGeom prst="ellipse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700" y="185261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럭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3825" y="2376488"/>
            <a:ext cx="965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럭키팬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23825" y="2500313"/>
            <a:ext cx="96515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38건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161925" y="2667000"/>
            <a:ext cx="888950" cy="514350"/>
          </a:xfrm>
          <a:prstGeom prst="rect">
            <a:avLst/>
          </a:prstGeom>
          <a:solidFill>
            <a:srgbClr val="F3F0E8"/>
          </a:solidFill>
          <a:ln/>
        </p:spPr>
      </p:sp>
      <p:sp>
        <p:nvSpPr>
          <p:cNvPr id="16" name="Shape 14"/>
          <p:cNvSpPr/>
          <p:nvPr/>
        </p:nvSpPr>
        <p:spPr>
          <a:xfrm>
            <a:off x="161925" y="2667000"/>
            <a:ext cx="88895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61925" y="2667000"/>
            <a:ext cx="19050" cy="5143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825" y="2667000"/>
            <a:ext cx="19050" cy="5143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" y="2686050"/>
            <a:ext cx="927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451" y="1354782"/>
            <a:ext cx="152400" cy="152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319138" y="1543050"/>
            <a:ext cx="581025" cy="581025"/>
          </a:xfrm>
          <a:prstGeom prst="ellipse">
            <a:avLst/>
          </a:prstGeom>
          <a:solidFill>
            <a:srgbClr val="2F6BFF"/>
          </a:solidFill>
          <a:ln w="23813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40411" dir="2700000">
              <a:srgbClr val="22201C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304851" y="156686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1127075" y="2171700"/>
            <a:ext cx="96522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075" y="2309813"/>
            <a:ext cx="96522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43건</a:t>
            </a:r>
            <a:endParaRPr lang="en-US" sz="713" dirty="0"/>
          </a:p>
        </p:txBody>
      </p:sp>
      <p:sp>
        <p:nvSpPr>
          <p:cNvPr id="25" name="Shape 22"/>
          <p:cNvSpPr/>
          <p:nvPr/>
        </p:nvSpPr>
        <p:spPr>
          <a:xfrm>
            <a:off x="1165175" y="2476500"/>
            <a:ext cx="889025" cy="70485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26" name="Shape 23"/>
          <p:cNvSpPr/>
          <p:nvPr/>
        </p:nvSpPr>
        <p:spPr>
          <a:xfrm>
            <a:off x="1165175" y="2476500"/>
            <a:ext cx="889025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7" name="Shape 24"/>
          <p:cNvSpPr/>
          <p:nvPr/>
        </p:nvSpPr>
        <p:spPr>
          <a:xfrm>
            <a:off x="1165175" y="2476500"/>
            <a:ext cx="19050" cy="7048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8" name="Shape 25"/>
          <p:cNvSpPr/>
          <p:nvPr/>
        </p:nvSpPr>
        <p:spPr>
          <a:xfrm>
            <a:off x="2035150" y="2476500"/>
            <a:ext cx="19050" cy="7048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29" name="Text 26"/>
          <p:cNvSpPr/>
          <p:nvPr/>
        </p:nvSpPr>
        <p:spPr>
          <a:xfrm>
            <a:off x="1146125" y="2495550"/>
            <a:ext cx="927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2365325" y="1966912"/>
            <a:ext cx="495300" cy="495300"/>
          </a:xfrm>
          <a:prstGeom prst="ellipse">
            <a:avLst/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46275" y="198596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2130400" y="2509838"/>
            <a:ext cx="965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핀아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2130400" y="2633663"/>
            <a:ext cx="96522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31건</a:t>
            </a:r>
            <a:endParaRPr lang="en-US" sz="713" dirty="0"/>
          </a:p>
        </p:txBody>
      </p:sp>
      <p:sp>
        <p:nvSpPr>
          <p:cNvPr id="34" name="Shape 31"/>
          <p:cNvSpPr/>
          <p:nvPr/>
        </p:nvSpPr>
        <p:spPr>
          <a:xfrm>
            <a:off x="2168500" y="2800350"/>
            <a:ext cx="889025" cy="381000"/>
          </a:xfrm>
          <a:prstGeom prst="rect">
            <a:avLst/>
          </a:prstGeom>
          <a:solidFill>
            <a:srgbClr val="F0DCC8"/>
          </a:solidFill>
          <a:ln/>
        </p:spPr>
      </p:sp>
      <p:sp>
        <p:nvSpPr>
          <p:cNvPr id="35" name="Shape 32"/>
          <p:cNvSpPr/>
          <p:nvPr/>
        </p:nvSpPr>
        <p:spPr>
          <a:xfrm>
            <a:off x="2168500" y="2800350"/>
            <a:ext cx="889025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36" name="Shape 33"/>
          <p:cNvSpPr/>
          <p:nvPr/>
        </p:nvSpPr>
        <p:spPr>
          <a:xfrm>
            <a:off x="2168500" y="2800350"/>
            <a:ext cx="19050" cy="3810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37" name="Shape 34"/>
          <p:cNvSpPr/>
          <p:nvPr/>
        </p:nvSpPr>
        <p:spPr>
          <a:xfrm>
            <a:off x="3038475" y="2800350"/>
            <a:ext cx="19050" cy="3810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38" name="Text 35"/>
          <p:cNvSpPr/>
          <p:nvPr/>
        </p:nvSpPr>
        <p:spPr>
          <a:xfrm>
            <a:off x="2149450" y="2819400"/>
            <a:ext cx="9271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57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161925" y="3743325"/>
            <a:ext cx="28956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40" name="Shape 37"/>
          <p:cNvSpPr/>
          <p:nvPr/>
        </p:nvSpPr>
        <p:spPr>
          <a:xfrm>
            <a:off x="161925" y="4314825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1" name="Text 38"/>
          <p:cNvSpPr/>
          <p:nvPr/>
        </p:nvSpPr>
        <p:spPr>
          <a:xfrm>
            <a:off x="161925" y="4017169"/>
            <a:ext cx="2857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725" y="3933825"/>
            <a:ext cx="304800" cy="304800"/>
          </a:xfrm>
          <a:prstGeom prst="ellipse">
            <a:avLst/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7675" y="39528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866775" y="4017169"/>
            <a:ext cx="206103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모찌언니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835697" y="4024313"/>
            <a:ext cx="2980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29건</a:t>
            </a:r>
            <a:endParaRPr lang="en-US" sz="825" dirty="0"/>
          </a:p>
        </p:txBody>
      </p:sp>
      <p:sp>
        <p:nvSpPr>
          <p:cNvPr id="46" name="Shape 43"/>
          <p:cNvSpPr/>
          <p:nvPr/>
        </p:nvSpPr>
        <p:spPr>
          <a:xfrm>
            <a:off x="161925" y="4786313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7" name="Text 44"/>
          <p:cNvSpPr/>
          <p:nvPr/>
        </p:nvSpPr>
        <p:spPr>
          <a:xfrm>
            <a:off x="161925" y="4488656"/>
            <a:ext cx="2857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66725" y="4405313"/>
            <a:ext cx="304800" cy="30480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7675" y="442436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866775" y="4488656"/>
            <a:ext cx="206873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토끼굴지기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842692" y="4495800"/>
            <a:ext cx="29103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27건</a:t>
            </a:r>
            <a:endParaRPr lang="en-US" sz="825" dirty="0"/>
          </a:p>
        </p:txBody>
      </p:sp>
      <p:sp>
        <p:nvSpPr>
          <p:cNvPr id="52" name="Shape 49"/>
          <p:cNvSpPr/>
          <p:nvPr/>
        </p:nvSpPr>
        <p:spPr>
          <a:xfrm>
            <a:off x="161925" y="4857750"/>
            <a:ext cx="2895600" cy="476250"/>
          </a:xfrm>
          <a:prstGeom prst="roundRect">
            <a:avLst>
              <a:gd name="adj" fmla="val 22000"/>
            </a:avLst>
          </a:prstGeom>
          <a:solidFill>
            <a:srgbClr val="22201C"/>
          </a:solidFill>
          <a:ln/>
        </p:spPr>
      </p:sp>
      <p:sp>
        <p:nvSpPr>
          <p:cNvPr id="53" name="Text 50"/>
          <p:cNvSpPr/>
          <p:nvPr/>
        </p:nvSpPr>
        <p:spPr>
          <a:xfrm>
            <a:off x="257175" y="5026819"/>
            <a:ext cx="3238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A0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#12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00075" y="4943475"/>
            <a:ext cx="304800" cy="30480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1025" y="49625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1000125" y="4976813"/>
            <a:ext cx="180745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 · 버니즈덕후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00125" y="5114925"/>
            <a:ext cx="1807451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9C2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4% · 이번 주 ▲3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2738512" y="5033963"/>
            <a:ext cx="2999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24건</a:t>
            </a:r>
            <a:endParaRPr lang="en-US" sz="825" dirty="0"/>
          </a:p>
        </p:txBody>
      </p:sp>
      <p:sp>
        <p:nvSpPr>
          <p:cNvPr id="59" name="Shape 56"/>
          <p:cNvSpPr/>
          <p:nvPr/>
        </p:nvSpPr>
        <p:spPr>
          <a:xfrm>
            <a:off x="9525" y="6219825"/>
            <a:ext cx="32004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9525" y="6219825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61" name="Text 58"/>
          <p:cNvSpPr/>
          <p:nvPr/>
        </p:nvSpPr>
        <p:spPr>
          <a:xfrm>
            <a:off x="-28575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</a:t>
            </a:r>
            <a:endParaRPr lang="en-US" sz="713" dirty="0"/>
          </a:p>
        </p:txBody>
      </p:sp>
      <p:sp>
        <p:nvSpPr>
          <p:cNvPr id="62" name="Text 59"/>
          <p:cNvSpPr/>
          <p:nvPr/>
        </p:nvSpPr>
        <p:spPr>
          <a:xfrm>
            <a:off x="611460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전황</a:t>
            </a:r>
            <a:endParaRPr lang="en-US" sz="713" dirty="0"/>
          </a:p>
        </p:txBody>
      </p:sp>
      <p:sp>
        <p:nvSpPr>
          <p:cNvPr id="63" name="Text 60"/>
          <p:cNvSpPr/>
          <p:nvPr/>
        </p:nvSpPr>
        <p:spPr>
          <a:xfrm>
            <a:off x="1251570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713" dirty="0"/>
          </a:p>
        </p:txBody>
      </p:sp>
      <p:sp>
        <p:nvSpPr>
          <p:cNvPr id="64" name="Text 61"/>
          <p:cNvSpPr/>
          <p:nvPr/>
        </p:nvSpPr>
        <p:spPr>
          <a:xfrm>
            <a:off x="189160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</a:t>
            </a:r>
            <a:endParaRPr lang="en-US" sz="713" dirty="0"/>
          </a:p>
        </p:txBody>
      </p:sp>
      <p:sp>
        <p:nvSpPr>
          <p:cNvPr id="65" name="Text 62"/>
          <p:cNvSpPr/>
          <p:nvPr/>
        </p:nvSpPr>
        <p:spPr>
          <a:xfrm>
            <a:off x="253171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</a:t>
            </a:r>
            <a:endParaRPr lang="en-US" sz="7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04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95611" y="585788"/>
            <a:ext cx="9426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기여도 상세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1925" y="962025"/>
            <a:ext cx="2895600" cy="1395413"/>
          </a:xfrm>
          <a:prstGeom prst="roundRect">
            <a:avLst>
              <a:gd name="adj" fmla="val 887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325" y="1104900"/>
            <a:ext cx="523875" cy="523875"/>
          </a:xfrm>
          <a:prstGeom prst="ellipse">
            <a:avLst/>
          </a:prstGeom>
          <a:solidFill>
            <a:srgbClr val="2F6BFF"/>
          </a:solidFill>
          <a:ln w="23813">
            <a:solidFill>
              <a:srgbClr val="222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038" y="112871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2975" y="1212056"/>
            <a:ext cx="69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덕질마스터</a:t>
            </a:r>
            <a:endParaRPr lang="en-US" sz="112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1494" y="1260053"/>
            <a:ext cx="104775" cy="104775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975" y="1411784"/>
            <a:ext cx="100013" cy="1000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6651" y="1402556"/>
            <a:ext cx="1374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팬덤: 뉴진스 · 가입 D+45일</a:t>
            </a:r>
            <a:endParaRPr lang="en-US" sz="788" dirty="0"/>
          </a:p>
        </p:txBody>
      </p:sp>
      <p:sp>
        <p:nvSpPr>
          <p:cNvPr id="15" name="Shape 11"/>
          <p:cNvSpPr/>
          <p:nvPr/>
        </p:nvSpPr>
        <p:spPr>
          <a:xfrm>
            <a:off x="314325" y="1743075"/>
            <a:ext cx="812750" cy="471488"/>
          </a:xfrm>
          <a:prstGeom prst="roundRect">
            <a:avLst>
              <a:gd name="adj" fmla="val 20202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1475" y="1838325"/>
            <a:ext cx="6984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1475" y="2019300"/>
            <a:ext cx="6984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인증</a:t>
            </a:r>
            <a:endParaRPr lang="en-US" sz="675" dirty="0"/>
          </a:p>
        </p:txBody>
      </p:sp>
      <p:sp>
        <p:nvSpPr>
          <p:cNvPr id="18" name="Shape 14"/>
          <p:cNvSpPr/>
          <p:nvPr/>
        </p:nvSpPr>
        <p:spPr>
          <a:xfrm>
            <a:off x="1203275" y="1743075"/>
            <a:ext cx="812825" cy="471488"/>
          </a:xfrm>
          <a:prstGeom prst="roundRect">
            <a:avLst>
              <a:gd name="adj" fmla="val 20202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60425" y="1838325"/>
            <a:ext cx="698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60425" y="2019300"/>
            <a:ext cx="69852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랭킹</a:t>
            </a:r>
            <a:endParaRPr lang="en-US" sz="675" dirty="0"/>
          </a:p>
        </p:txBody>
      </p:sp>
      <p:sp>
        <p:nvSpPr>
          <p:cNvPr id="21" name="Shape 17"/>
          <p:cNvSpPr/>
          <p:nvPr/>
        </p:nvSpPr>
        <p:spPr>
          <a:xfrm>
            <a:off x="2092300" y="1743075"/>
            <a:ext cx="812825" cy="471488"/>
          </a:xfrm>
          <a:prstGeom prst="roundRect">
            <a:avLst>
              <a:gd name="adj" fmla="val 20202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149450" y="1838325"/>
            <a:ext cx="698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149450" y="2019300"/>
            <a:ext cx="69852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수호신 칭호</a:t>
            </a:r>
            <a:endParaRPr lang="en-US" sz="675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925" y="2573462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01749" y="2562225"/>
            <a:ext cx="1488281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구별 우리 팬덤 기여 지분율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61925" y="2776538"/>
            <a:ext cx="2895600" cy="1266825"/>
          </a:xfrm>
          <a:prstGeom prst="roundRect">
            <a:avLst>
              <a:gd name="adj" fmla="val 9023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4800" y="2900363"/>
            <a:ext cx="3478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2286149" y="2900363"/>
            <a:ext cx="7047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지분 18.2%</a:t>
            </a:r>
            <a:endParaRPr lang="en-US" sz="825" dirty="0"/>
          </a:p>
        </p:txBody>
      </p:sp>
      <p:sp>
        <p:nvSpPr>
          <p:cNvPr id="29" name="Shape 24"/>
          <p:cNvSpPr/>
          <p:nvPr/>
        </p:nvSpPr>
        <p:spPr>
          <a:xfrm>
            <a:off x="304800" y="3071813"/>
            <a:ext cx="2609850" cy="104775"/>
          </a:xfrm>
          <a:prstGeom prst="roundRect">
            <a:avLst>
              <a:gd name="adj" fmla="val 36364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19088" y="3086100"/>
            <a:ext cx="469776" cy="76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1" name="Shape 26"/>
          <p:cNvSpPr/>
          <p:nvPr/>
        </p:nvSpPr>
        <p:spPr>
          <a:xfrm>
            <a:off x="788863" y="3086100"/>
            <a:ext cx="2111499" cy="76200"/>
          </a:xfrm>
          <a:prstGeom prst="rect">
            <a:avLst/>
          </a:prstGeom>
          <a:solidFill>
            <a:srgbClr val="E8EFFC"/>
          </a:solidFill>
          <a:ln/>
        </p:spPr>
      </p:sp>
      <p:sp>
        <p:nvSpPr>
          <p:cNvPr id="32" name="Text 27"/>
          <p:cNvSpPr/>
          <p:nvPr/>
        </p:nvSpPr>
        <p:spPr>
          <a:xfrm>
            <a:off x="304800" y="3271838"/>
            <a:ext cx="3478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2305943" y="3271838"/>
            <a:ext cx="684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지분 11.6%</a:t>
            </a:r>
            <a:endParaRPr lang="en-US" sz="825" dirty="0"/>
          </a:p>
        </p:txBody>
      </p:sp>
      <p:sp>
        <p:nvSpPr>
          <p:cNvPr id="34" name="Shape 29"/>
          <p:cNvSpPr/>
          <p:nvPr/>
        </p:nvSpPr>
        <p:spPr>
          <a:xfrm>
            <a:off x="304800" y="3443288"/>
            <a:ext cx="2609850" cy="104775"/>
          </a:xfrm>
          <a:prstGeom prst="roundRect">
            <a:avLst>
              <a:gd name="adj" fmla="val 36364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19088" y="3457575"/>
            <a:ext cx="299368" cy="76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6" name="Shape 31"/>
          <p:cNvSpPr/>
          <p:nvPr/>
        </p:nvSpPr>
        <p:spPr>
          <a:xfrm>
            <a:off x="618455" y="3457575"/>
            <a:ext cx="2281907" cy="76200"/>
          </a:xfrm>
          <a:prstGeom prst="rect">
            <a:avLst/>
          </a:prstGeom>
          <a:solidFill>
            <a:srgbClr val="E8EFFC"/>
          </a:solidFill>
          <a:ln/>
        </p:spPr>
      </p:sp>
      <p:sp>
        <p:nvSpPr>
          <p:cNvPr id="37" name="Text 32"/>
          <p:cNvSpPr/>
          <p:nvPr/>
        </p:nvSpPr>
        <p:spPr>
          <a:xfrm>
            <a:off x="304800" y="3643313"/>
            <a:ext cx="4384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서대문구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2331393" y="3643313"/>
            <a:ext cx="6594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F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지분 6.4%</a:t>
            </a:r>
            <a:endParaRPr lang="en-US" sz="825" dirty="0"/>
          </a:p>
        </p:txBody>
      </p:sp>
      <p:sp>
        <p:nvSpPr>
          <p:cNvPr id="39" name="Shape 34"/>
          <p:cNvSpPr/>
          <p:nvPr/>
        </p:nvSpPr>
        <p:spPr>
          <a:xfrm>
            <a:off x="304800" y="3814763"/>
            <a:ext cx="2609850" cy="104775"/>
          </a:xfrm>
          <a:prstGeom prst="roundRect">
            <a:avLst>
              <a:gd name="adj" fmla="val 36364"/>
            </a:avLst>
          </a:prstGeom>
          <a:ln w="14288">
            <a:solidFill>
              <a:srgbClr val="22201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19088" y="3829050"/>
            <a:ext cx="165199" cy="762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41" name="Shape 36"/>
          <p:cNvSpPr/>
          <p:nvPr/>
        </p:nvSpPr>
        <p:spPr>
          <a:xfrm>
            <a:off x="484287" y="3829050"/>
            <a:ext cx="2416076" cy="76200"/>
          </a:xfrm>
          <a:prstGeom prst="rect">
            <a:avLst/>
          </a:prstGeom>
          <a:solidFill>
            <a:srgbClr val="E8EFFC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925" y="4516562"/>
            <a:ext cx="114300" cy="1143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301749" y="4505325"/>
            <a:ext cx="1229171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수호신 뱃지 수집함 (4/5)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161925" y="4719638"/>
            <a:ext cx="518145" cy="642938"/>
          </a:xfrm>
          <a:prstGeom prst="roundRect">
            <a:avLst>
              <a:gd name="adj" fmla="val 20221"/>
            </a:avLst>
          </a:prstGeom>
          <a:solidFill>
            <a:srgbClr val="FFFBE8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0473" y="4840188"/>
            <a:ext cx="180975" cy="180975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80975" y="5067300"/>
            <a:ext cx="480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수호신</a:t>
            </a:r>
            <a:endParaRPr lang="en-US" sz="638" dirty="0"/>
          </a:p>
        </p:txBody>
      </p:sp>
      <p:sp>
        <p:nvSpPr>
          <p:cNvPr id="47" name="Shape 40"/>
          <p:cNvSpPr/>
          <p:nvPr/>
        </p:nvSpPr>
        <p:spPr>
          <a:xfrm>
            <a:off x="756270" y="4719638"/>
            <a:ext cx="518220" cy="642938"/>
          </a:xfrm>
          <a:prstGeom prst="roundRect">
            <a:avLst>
              <a:gd name="adj" fmla="val 20218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4892" y="4840188"/>
            <a:ext cx="180975" cy="18097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75320" y="5067300"/>
            <a:ext cx="48012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영토 개척자</a:t>
            </a:r>
            <a:endParaRPr lang="en-US" sz="638" dirty="0"/>
          </a:p>
        </p:txBody>
      </p:sp>
      <p:sp>
        <p:nvSpPr>
          <p:cNvPr id="50" name="Shape 42"/>
          <p:cNvSpPr/>
          <p:nvPr/>
        </p:nvSpPr>
        <p:spPr>
          <a:xfrm>
            <a:off x="1350690" y="4719638"/>
            <a:ext cx="518145" cy="642938"/>
          </a:xfrm>
          <a:prstGeom prst="roundRect">
            <a:avLst>
              <a:gd name="adj" fmla="val 20221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19238" y="4840188"/>
            <a:ext cx="180975" cy="18097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369740" y="5067300"/>
            <a:ext cx="48004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역전의 주역</a:t>
            </a:r>
            <a:endParaRPr lang="en-US" sz="638" dirty="0"/>
          </a:p>
        </p:txBody>
      </p:sp>
      <p:sp>
        <p:nvSpPr>
          <p:cNvPr id="53" name="Shape 44"/>
          <p:cNvSpPr/>
          <p:nvPr/>
        </p:nvSpPr>
        <p:spPr>
          <a:xfrm>
            <a:off x="1945035" y="4719638"/>
            <a:ext cx="518145" cy="642938"/>
          </a:xfrm>
          <a:prstGeom prst="roundRect">
            <a:avLst>
              <a:gd name="adj" fmla="val 20221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13583" y="4840188"/>
            <a:ext cx="180975" cy="180975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1964085" y="5067300"/>
            <a:ext cx="48004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순례자</a:t>
            </a:r>
            <a:endParaRPr lang="en-US" sz="638" dirty="0"/>
          </a:p>
        </p:txBody>
      </p:sp>
      <p:sp>
        <p:nvSpPr>
          <p:cNvPr id="56" name="Shape 46"/>
          <p:cNvSpPr/>
          <p:nvPr/>
        </p:nvSpPr>
        <p:spPr>
          <a:xfrm>
            <a:off x="2539380" y="4719638"/>
            <a:ext cx="518145" cy="642938"/>
          </a:xfrm>
          <a:prstGeom prst="roundRect">
            <a:avLst>
              <a:gd name="adj" fmla="val 20221"/>
            </a:avLst>
          </a:prstGeom>
          <a:ln w="19050">
            <a:solidFill>
              <a:srgbClr val="B3AD9D">
                <a:alpha val="55000"/>
              </a:srgbClr>
            </a:solidFill>
            <a:prstDash val="dash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7">
            <a:alphaModFix amt="55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07928" y="4840188"/>
            <a:ext cx="180975" cy="180975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2558430" y="5067300"/>
            <a:ext cx="48004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8A8272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???</a:t>
            </a:r>
            <a:endParaRPr lang="en-US" sz="63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9525" y="9525"/>
            <a:ext cx="3200400" cy="6781800"/>
          </a:xfrm>
          <a:prstGeom prst="rect">
            <a:avLst/>
          </a:prstGeom>
          <a:gradFill rotWithShape="1">
            <a:gsLst>
              <a:gs pos="0">
                <a:srgbClr val="FDEEF4">
                  <a:alpha val="100000"/>
                </a:srgbClr>
              </a:gs>
              <a:gs pos="55000">
                <a:srgbClr val="FFFFFF">
                  <a:alpha val="100000"/>
                </a:srgbClr>
              </a:gs>
            </a:gsLst>
            <a:path path="circle">
              <a:fillToRect l="50000" t="32000" r="50000" b="68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1123950" y="1622227"/>
            <a:ext cx="971550" cy="971550"/>
          </a:xfrm>
          <a:prstGeom prst="roundRect">
            <a:avLst>
              <a:gd name="adj" fmla="val 25490"/>
            </a:avLst>
          </a:prstGeom>
          <a:solidFill>
            <a:srgbClr val="FFE14D"/>
          </a:solidFill>
          <a:ln w="28575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67352" dir="2700000">
              <a:srgbClr val="22201C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0175" y="1898452"/>
            <a:ext cx="419100" cy="419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-150495" y="2784277"/>
            <a:ext cx="35204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-58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 땅따먹기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-150495" y="3141464"/>
            <a:ext cx="352044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우리들의 성지, 우리의 색으로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457325" y="6096000"/>
            <a:ext cx="304800" cy="28575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1" name="Shape 8"/>
          <p:cNvSpPr/>
          <p:nvPr/>
        </p:nvSpPr>
        <p:spPr>
          <a:xfrm>
            <a:off x="1457325" y="5819775"/>
            <a:ext cx="304800" cy="28575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5819775"/>
            <a:ext cx="28575" cy="3048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3" name="Shape 10"/>
          <p:cNvSpPr/>
          <p:nvPr/>
        </p:nvSpPr>
        <p:spPr>
          <a:xfrm>
            <a:off x="1733550" y="5819775"/>
            <a:ext cx="28575" cy="30480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14" name="Text 11"/>
          <p:cNvSpPr/>
          <p:nvPr/>
        </p:nvSpPr>
        <p:spPr>
          <a:xfrm>
            <a:off x="-150495" y="6391275"/>
            <a:ext cx="35204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v0.1.0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9525" y="9525"/>
            <a:ext cx="3200400" cy="6781800"/>
          </a:xfrm>
          <a:prstGeom prst="rect">
            <a:avLst/>
          </a:prstGeom>
          <a:solidFill>
            <a:srgbClr val="22201C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" y="3548063"/>
            <a:ext cx="3200400" cy="3243263"/>
          </a:xfrm>
          <a:custGeom>
            <a:avLst/>
            <a:gdLst/>
            <a:ahLst/>
            <a:cxnLst/>
            <a:rect l="l" t="t" r="r" b="b"/>
            <a:pathLst>
              <a:path w="3200400" h="3243263">
                <a:moveTo>
                  <a:pt x="190500" y="0"/>
                </a:moveTo>
                <a:lnTo>
                  <a:pt x="3009900" y="0"/>
                </a:lnTo>
                <a:arcTo hR="190500" wR="190500" stAng="16200000" swAng="5400000"/>
                <a:lnTo>
                  <a:pt x="3200400" y="3243263"/>
                </a:lnTo>
                <a:lnTo>
                  <a:pt x="0" y="3243263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" y="3548063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8" name="Shape 6"/>
          <p:cNvSpPr/>
          <p:nvPr/>
        </p:nvSpPr>
        <p:spPr>
          <a:xfrm>
            <a:off x="1428750" y="3700463"/>
            <a:ext cx="361950" cy="38100"/>
          </a:xfrm>
          <a:prstGeom prst="roundRect">
            <a:avLst>
              <a:gd name="adj" fmla="val 50000"/>
            </a:avLst>
          </a:prstGeom>
          <a:solidFill>
            <a:srgbClr val="22201C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055" y="3910013"/>
            <a:ext cx="310134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만에 시작하기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9055" y="4181475"/>
            <a:ext cx="31013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팬덤의 땅을 넓히러 가볼까요?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200025" y="4505325"/>
            <a:ext cx="2819400" cy="514350"/>
          </a:xfrm>
          <a:prstGeom prst="roundRect">
            <a:avLst>
              <a:gd name="adj" fmla="val 22222"/>
            </a:avLst>
          </a:prstGeom>
          <a:solidFill>
            <a:srgbClr val="FAE100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7767" y="4700588"/>
            <a:ext cx="123825" cy="1238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67792" y="4688681"/>
            <a:ext cx="9600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C1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카카오로 계속하기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200025" y="5114925"/>
            <a:ext cx="28194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252" y="5291138"/>
            <a:ext cx="1761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85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309390" y="5298281"/>
            <a:ext cx="8530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구글로 계속하기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00025" y="5724525"/>
            <a:ext cx="2819400" cy="514350"/>
          </a:xfrm>
          <a:prstGeom prst="roundRect">
            <a:avLst>
              <a:gd name="adj" fmla="val 22222"/>
            </a:avLst>
          </a:prstGeom>
          <a:solidFill>
            <a:srgbClr val="22201C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6784" y="5743575"/>
            <a:ext cx="28658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애플로 계속하기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9055" y="6391275"/>
            <a:ext cx="31013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시 서비스 약관에 동의하게 됩니다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542925"/>
            <a:ext cx="2982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b="1" spc="-30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이용을 위해 동의가 필요해요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1925" y="1228725"/>
            <a:ext cx="2895600" cy="552450"/>
          </a:xfrm>
          <a:prstGeom prst="roundRect">
            <a:avLst>
              <a:gd name="adj" fmla="val 20690"/>
            </a:avLst>
          </a:prstGeom>
          <a:solidFill>
            <a:srgbClr val="FFFBE8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325" y="13811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275" y="140017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7225" y="1426369"/>
            <a:ext cx="54954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동의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161925" y="2333625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" name="Shape 9"/>
          <p:cNvSpPr/>
          <p:nvPr/>
        </p:nvSpPr>
        <p:spPr>
          <a:xfrm>
            <a:off x="295275" y="19812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225" y="20002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19125" y="2024062"/>
            <a:ext cx="23876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[필수] 서비스 이용 약관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2884959" y="2033588"/>
            <a:ext cx="115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161925" y="2824163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Shape 14"/>
          <p:cNvSpPr/>
          <p:nvPr/>
        </p:nvSpPr>
        <p:spPr>
          <a:xfrm>
            <a:off x="295275" y="247173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225" y="2490788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9125" y="2514600"/>
            <a:ext cx="23876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[필수] 위치 기반 서비스 약관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2884959" y="2524125"/>
            <a:ext cx="115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61925" y="3314700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5275" y="29622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225" y="2981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9125" y="3005138"/>
            <a:ext cx="23876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[필수] 개인정보 처리 방침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2884959" y="3014663"/>
            <a:ext cx="115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295275" y="3452813"/>
            <a:ext cx="228600" cy="228600"/>
          </a:xfrm>
          <a:prstGeom prst="roundRect">
            <a:avLst>
              <a:gd name="adj" fmla="val 25000"/>
            </a:avLst>
          </a:prstGeom>
          <a:ln w="19050">
            <a:solidFill>
              <a:srgbClr val="B3AD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125" y="3495675"/>
            <a:ext cx="23876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[선택] 이벤트 &amp; 혜택 알림 수신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2884959" y="3505200"/>
            <a:ext cx="115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161925" y="606742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491" y="6067425"/>
            <a:ext cx="29824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동의하고 계속하기</a:t>
            </a:r>
            <a:endParaRPr lang="en-US" sz="101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7" name="Shape 5"/>
          <p:cNvSpPr/>
          <p:nvPr/>
        </p:nvSpPr>
        <p:spPr>
          <a:xfrm>
            <a:off x="2124075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" y="752475"/>
            <a:ext cx="31851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b="1" spc="-30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불러드릴까요?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1925" y="117157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닉네임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161925" y="1357313"/>
            <a:ext cx="2093863" cy="495300"/>
          </a:xfrm>
          <a:prstGeom prst="roundRect">
            <a:avLst>
              <a:gd name="adj" fmla="val 23077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325" y="1531144"/>
            <a:ext cx="61131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버니즈덕후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68487" y="1528763"/>
            <a:ext cx="19050" cy="1524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31988" y="1357313"/>
            <a:ext cx="725537" cy="495300"/>
          </a:xfrm>
          <a:prstGeom prst="roundRect">
            <a:avLst>
              <a:gd name="adj" fmla="val 23077"/>
            </a:avLst>
          </a:prstGeom>
          <a:solidFill>
            <a:srgbClr val="F3F0E8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4388" y="1376363"/>
            <a:ext cx="49693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1925" y="1919288"/>
            <a:ext cx="31851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사용할 수 있는 닉네임이에요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1925" y="223361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프로필 캐릭터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61925" y="2438400"/>
            <a:ext cx="666750" cy="666750"/>
          </a:xfrm>
          <a:prstGeom prst="ellipse">
            <a:avLst/>
          </a:prstGeom>
          <a:solidFill>
            <a:srgbClr val="2F6BFF"/>
          </a:solidFill>
          <a:ln w="28575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40411" dir="2700000">
              <a:srgbClr val="22201C">
                <a:alpha val="2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2647950"/>
            <a:ext cx="247650" cy="2476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23925" y="2438400"/>
            <a:ext cx="647700" cy="647700"/>
          </a:xfrm>
          <a:prstGeom prst="ellipse">
            <a:avLst/>
          </a:prstGeom>
          <a:solidFill>
            <a:srgbClr val="FDEEF4">
              <a:alpha val="70000"/>
            </a:srgbClr>
          </a:solidFill>
          <a:ln w="19050">
            <a:solidFill>
              <a:srgbClr val="D8D1C0">
                <a:alpha val="7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50" y="2638425"/>
            <a:ext cx="247650" cy="24765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666875" y="2438400"/>
            <a:ext cx="647700" cy="647700"/>
          </a:xfrm>
          <a:prstGeom prst="ellipse">
            <a:avLst/>
          </a:prstGeom>
          <a:solidFill>
            <a:srgbClr val="FFF4DD">
              <a:alpha val="70000"/>
            </a:srgbClr>
          </a:solidFill>
          <a:ln w="19050">
            <a:solidFill>
              <a:srgbClr val="D8D1C0">
                <a:alpha val="7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6900" y="2638425"/>
            <a:ext cx="247650" cy="2476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409825" y="2438400"/>
            <a:ext cx="647700" cy="647700"/>
          </a:xfrm>
          <a:prstGeom prst="ellipse">
            <a:avLst/>
          </a:prstGeom>
          <a:solidFill>
            <a:srgbClr val="E8F4E2">
              <a:alpha val="70000"/>
            </a:srgbClr>
          </a:solidFill>
          <a:ln w="19050">
            <a:solidFill>
              <a:srgbClr val="D8D1C0">
                <a:alpha val="7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9850" y="2638425"/>
            <a:ext cx="247650" cy="2476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61925" y="606742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18491" y="6067425"/>
            <a:ext cx="29824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endParaRPr lang="en-US" sz="101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7" name="Shape 5"/>
          <p:cNvSpPr/>
          <p:nvPr/>
        </p:nvSpPr>
        <p:spPr>
          <a:xfrm>
            <a:off x="2124075" y="542925"/>
            <a:ext cx="933450" cy="38100"/>
          </a:xfrm>
          <a:prstGeom prst="roundRect">
            <a:avLst>
              <a:gd name="adj" fmla="val 50000"/>
            </a:avLst>
          </a:prstGeom>
          <a:solidFill>
            <a:srgbClr val="22201C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" y="752475"/>
            <a:ext cx="29824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b="1" spc="-30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팬덤으로 싸우시겠어요?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1925" y="1381125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548408"/>
            <a:ext cx="123825" cy="1238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4825" y="1540669"/>
            <a:ext cx="9345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팬덤/아티스트 검색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61925" y="1952625"/>
            <a:ext cx="2895600" cy="619125"/>
          </a:xfrm>
          <a:prstGeom prst="roundRect">
            <a:avLst>
              <a:gd name="adj" fmla="val 18462"/>
            </a:avLst>
          </a:prstGeom>
          <a:solidFill>
            <a:srgbClr val="F4F8FF"/>
          </a:solidFill>
          <a:ln w="23813">
            <a:solidFill>
              <a:srgbClr val="2F6B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9563" y="2081212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513" y="210026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6288" y="2128838"/>
            <a:ext cx="182914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버니즈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776288" y="2276475"/>
            <a:ext cx="182914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456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팬덤 ◉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543919" y="2150269"/>
            <a:ext cx="365968" cy="223838"/>
          </a:xfrm>
          <a:prstGeom prst="roundRect">
            <a:avLst>
              <a:gd name="adj" fmla="val 34042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48694" y="2207419"/>
            <a:ext cx="232618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</a:t>
            </a:r>
            <a:endParaRPr lang="en-US" sz="713" dirty="0"/>
          </a:p>
        </p:txBody>
      </p:sp>
      <p:sp>
        <p:nvSpPr>
          <p:cNvPr id="19" name="Shape 16"/>
          <p:cNvSpPr/>
          <p:nvPr/>
        </p:nvSpPr>
        <p:spPr>
          <a:xfrm>
            <a:off x="161925" y="2647950"/>
            <a:ext cx="2895600" cy="609600"/>
          </a:xfrm>
          <a:prstGeom prst="roundRect">
            <a:avLst>
              <a:gd name="adj" fmla="val 18750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4800" y="27717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6498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5750" y="2790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771525" y="2819400"/>
            <a:ext cx="235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 · 마이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771525" y="2967038"/>
            <a:ext cx="235743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응원 팬덤 ☑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61925" y="3333750"/>
            <a:ext cx="2895600" cy="609600"/>
          </a:xfrm>
          <a:prstGeom prst="roundRect">
            <a:avLst>
              <a:gd name="adj" fmla="val 18750"/>
            </a:avLst>
          </a:prstGeom>
          <a:ln w="19050">
            <a:solidFill>
              <a:srgbClr val="D8D1C0">
                <a:alpha val="7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4800" y="34575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F59F00">
              <a:alpha val="75000"/>
            </a:srgbClr>
          </a:solidFill>
          <a:ln w="19050">
            <a:solidFill>
              <a:srgbClr val="22201C">
                <a:alpha val="7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5750" y="34766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4A3708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IVE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771525" y="3505200"/>
            <a:ext cx="235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· 다이브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771525" y="3652838"/>
            <a:ext cx="235743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272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응원 팬덤 ☐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7145" y="4057650"/>
            <a:ext cx="31851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u="sng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IP가 없나요? 직접 신청하기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161925" y="606742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18491" y="6067425"/>
            <a:ext cx="29824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팬덤으로 시작하기</a:t>
            </a:r>
            <a:endParaRPr lang="en-US" sz="10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" y="295275"/>
            <a:ext cx="3200400" cy="1905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0175" y="1192113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-150495" y="1747838"/>
            <a:ext cx="3520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33" kern="0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입덕 완료!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238125" y="2257425"/>
            <a:ext cx="2743200" cy="904875"/>
          </a:xfrm>
          <a:prstGeom prst="roundRect">
            <a:avLst>
              <a:gd name="adj" fmla="val 16842"/>
            </a:avLst>
          </a:prstGeom>
          <a:solidFill>
            <a:srgbClr val="F4F8FF"/>
          </a:solidFill>
          <a:ln w="23813">
            <a:solidFill>
              <a:srgbClr val="22201C"/>
            </a:solidFill>
            <a:prstDash val="solid"/>
          </a:ln>
          <a:effectLst>
            <a:outerShdw sx="100000" sy="100000" kx="0" ky="0" algn="bl" rotWithShape="0" blurRad="101600" dist="67352" dir="2700000">
              <a:srgbClr val="22201C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4338" y="2433638"/>
            <a:ext cx="552450" cy="552450"/>
          </a:xfrm>
          <a:prstGeom prst="ellipse">
            <a:avLst/>
          </a:prstGeom>
          <a:solidFill>
            <a:srgbClr val="2F6BFF"/>
          </a:solidFill>
          <a:ln w="28575">
            <a:solidFill>
              <a:srgbClr val="22201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025" y="2600325"/>
            <a:ext cx="219075" cy="2190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1088" y="2552700"/>
            <a:ext cx="10316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버니즈덕후</a:t>
            </a:r>
            <a:endParaRPr lang="en-US" sz="11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088" y="2753097"/>
            <a:ext cx="104775" cy="1047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9973" y="2743200"/>
            <a:ext cx="9027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456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버니즈 소속</a:t>
            </a:r>
            <a:endParaRPr lang="en-US" sz="825" dirty="0"/>
          </a:p>
        </p:txBody>
      </p:sp>
      <p:sp>
        <p:nvSpPr>
          <p:cNvPr id="14" name="Shape 8"/>
          <p:cNvSpPr/>
          <p:nvPr/>
        </p:nvSpPr>
        <p:spPr>
          <a:xfrm>
            <a:off x="238125" y="3362325"/>
            <a:ext cx="266700" cy="266700"/>
          </a:xfrm>
          <a:prstGeom prst="ellipse">
            <a:avLst/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19075" y="338137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25" dirty="0"/>
          </a:p>
        </p:txBody>
      </p:sp>
      <p:sp>
        <p:nvSpPr>
          <p:cNvPr id="16" name="Text 10"/>
          <p:cNvSpPr/>
          <p:nvPr/>
        </p:nvSpPr>
        <p:spPr>
          <a:xfrm>
            <a:off x="600075" y="3429000"/>
            <a:ext cx="1468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지도에서 우리 팬덤 성지를 찾고</a:t>
            </a:r>
            <a:endParaRPr lang="en-US" sz="863" dirty="0"/>
          </a:p>
        </p:txBody>
      </p:sp>
      <p:sp>
        <p:nvSpPr>
          <p:cNvPr id="17" name="Shape 11"/>
          <p:cNvSpPr/>
          <p:nvPr/>
        </p:nvSpPr>
        <p:spPr>
          <a:xfrm>
            <a:off x="238125" y="3714750"/>
            <a:ext cx="266700" cy="266700"/>
          </a:xfrm>
          <a:prstGeom prst="ellipse">
            <a:avLst/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19075" y="373380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600075" y="3781425"/>
            <a:ext cx="764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 영수증으로</a:t>
            </a:r>
            <a:endParaRPr lang="en-US" sz="863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4748" y="3791992"/>
            <a:ext cx="109538" cy="1095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50256" y="3781425"/>
            <a:ext cx="4549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인증하면</a:t>
            </a:r>
            <a:endParaRPr lang="en-US" sz="863" dirty="0"/>
          </a:p>
        </p:txBody>
      </p:sp>
      <p:sp>
        <p:nvSpPr>
          <p:cNvPr id="22" name="Shape 15"/>
          <p:cNvSpPr/>
          <p:nvPr/>
        </p:nvSpPr>
        <p:spPr>
          <a:xfrm>
            <a:off x="238125" y="4067175"/>
            <a:ext cx="266700" cy="266700"/>
          </a:xfrm>
          <a:prstGeom prst="ellipse">
            <a:avLst/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19075" y="408622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25" dirty="0"/>
          </a:p>
        </p:txBody>
      </p:sp>
      <p:sp>
        <p:nvSpPr>
          <p:cNvPr id="24" name="Text 17"/>
          <p:cNvSpPr/>
          <p:nvPr/>
        </p:nvSpPr>
        <p:spPr>
          <a:xfrm>
            <a:off x="600075" y="4133850"/>
            <a:ext cx="160092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땅이 우리 팬덤 색으로 물들어요</a:t>
            </a:r>
            <a:endParaRPr lang="en-US" sz="863" dirty="0"/>
          </a:p>
        </p:txBody>
      </p:sp>
      <p:sp>
        <p:nvSpPr>
          <p:cNvPr id="25" name="Shape 18"/>
          <p:cNvSpPr/>
          <p:nvPr/>
        </p:nvSpPr>
        <p:spPr>
          <a:xfrm>
            <a:off x="161925" y="606742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22201C"/>
          </a:solidFill>
          <a:ln/>
          <a:effectLst>
            <a:outerShdw sx="100000" sy="100000" kx="0" ky="0" algn="bl" rotWithShape="0" blurRad="101600" dist="53882" dir="2700000">
              <a:srgbClr val="22201C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7620" y="6241256"/>
            <a:ext cx="128588" cy="128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26207" y="6226969"/>
            <a:ext cx="77182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진입하기</a:t>
            </a:r>
            <a:endParaRPr lang="en-US" sz="101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552450"/>
            <a:ext cx="3887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9557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9875" y="600075"/>
            <a:ext cx="133350" cy="1333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1925" y="942975"/>
            <a:ext cx="2895600" cy="1414463"/>
          </a:xfrm>
          <a:prstGeom prst="roundRect">
            <a:avLst>
              <a:gd name="adj" fmla="val 875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4325" y="1085850"/>
            <a:ext cx="552450" cy="552450"/>
          </a:xfrm>
          <a:prstGeom prst="ellipse">
            <a:avLst/>
          </a:prstGeom>
          <a:solidFill>
            <a:srgbClr val="2F6BFF"/>
          </a:solidFill>
          <a:ln w="28575">
            <a:solidFill>
              <a:srgbClr val="22201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012" y="1252538"/>
            <a:ext cx="219075" cy="219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1207294"/>
            <a:ext cx="693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버니즈덕후</a:t>
            </a:r>
            <a:endParaRPr lang="en-US" sz="112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0069" y="1255291"/>
            <a:ext cx="104775" cy="1047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550" y="1407021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5226" y="1397794"/>
            <a:ext cx="95369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가입 D+45일</a:t>
            </a:r>
            <a:endParaRPr lang="en-US" sz="788" dirty="0"/>
          </a:p>
        </p:txBody>
      </p:sp>
      <p:sp>
        <p:nvSpPr>
          <p:cNvPr id="15" name="Text 9"/>
          <p:cNvSpPr/>
          <p:nvPr/>
        </p:nvSpPr>
        <p:spPr>
          <a:xfrm>
            <a:off x="2660675" y="1300163"/>
            <a:ext cx="320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›</a:t>
            </a:r>
            <a:endParaRPr lang="en-US" sz="825" dirty="0"/>
          </a:p>
        </p:txBody>
      </p:sp>
      <p:sp>
        <p:nvSpPr>
          <p:cNvPr id="16" name="Shape 10"/>
          <p:cNvSpPr/>
          <p:nvPr/>
        </p:nvSpPr>
        <p:spPr>
          <a:xfrm>
            <a:off x="314325" y="1752600"/>
            <a:ext cx="812750" cy="461963"/>
          </a:xfrm>
          <a:prstGeom prst="roundRect">
            <a:avLst>
              <a:gd name="adj" fmla="val 2061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71475" y="1847850"/>
            <a:ext cx="698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1125" dirty="0"/>
          </a:p>
        </p:txBody>
      </p:sp>
      <p:sp>
        <p:nvSpPr>
          <p:cNvPr id="18" name="Text 12"/>
          <p:cNvSpPr/>
          <p:nvPr/>
        </p:nvSpPr>
        <p:spPr>
          <a:xfrm>
            <a:off x="371475" y="2019300"/>
            <a:ext cx="6984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성공</a:t>
            </a:r>
            <a:endParaRPr lang="en-US" sz="675" dirty="0"/>
          </a:p>
        </p:txBody>
      </p:sp>
      <p:sp>
        <p:nvSpPr>
          <p:cNvPr id="19" name="Shape 13"/>
          <p:cNvSpPr/>
          <p:nvPr/>
        </p:nvSpPr>
        <p:spPr>
          <a:xfrm>
            <a:off x="1203275" y="1752600"/>
            <a:ext cx="812825" cy="461963"/>
          </a:xfrm>
          <a:prstGeom prst="roundRect">
            <a:avLst>
              <a:gd name="adj" fmla="val 2061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260425" y="1847850"/>
            <a:ext cx="698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1260425" y="2019300"/>
            <a:ext cx="69852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 뱃지</a:t>
            </a:r>
            <a:endParaRPr lang="en-US" sz="675" dirty="0"/>
          </a:p>
        </p:txBody>
      </p:sp>
      <p:sp>
        <p:nvSpPr>
          <p:cNvPr id="22" name="Shape 16"/>
          <p:cNvSpPr/>
          <p:nvPr/>
        </p:nvSpPr>
        <p:spPr>
          <a:xfrm>
            <a:off x="2092300" y="1752600"/>
            <a:ext cx="812825" cy="461963"/>
          </a:xfrm>
          <a:prstGeom prst="roundRect">
            <a:avLst>
              <a:gd name="adj" fmla="val 2061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149450" y="1847850"/>
            <a:ext cx="698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3곳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2149450" y="2019300"/>
            <a:ext cx="698525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점령 기여</a:t>
            </a:r>
            <a:endParaRPr lang="en-US" sz="675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1925" y="255441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01749" y="2543175"/>
            <a:ext cx="917674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수호신 뱃지 수집함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2880494" y="2552700"/>
            <a:ext cx="2532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8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4/5</a:t>
            </a:r>
            <a:endParaRPr lang="en-US" sz="825" dirty="0"/>
          </a:p>
        </p:txBody>
      </p:sp>
      <p:sp>
        <p:nvSpPr>
          <p:cNvPr id="28" name="Shape 21"/>
          <p:cNvSpPr/>
          <p:nvPr/>
        </p:nvSpPr>
        <p:spPr>
          <a:xfrm>
            <a:off x="161925" y="2757488"/>
            <a:ext cx="518145" cy="490538"/>
          </a:xfrm>
          <a:prstGeom prst="roundRect">
            <a:avLst>
              <a:gd name="adj" fmla="val 21359"/>
            </a:avLst>
          </a:prstGeom>
          <a:solidFill>
            <a:srgbClr val="FFFBE8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998" y="2865834"/>
            <a:ext cx="161925" cy="1619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71450" y="3062288"/>
            <a:ext cx="499095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 수호신</a:t>
            </a:r>
            <a:endParaRPr lang="en-US" sz="600" dirty="0"/>
          </a:p>
        </p:txBody>
      </p:sp>
      <p:sp>
        <p:nvSpPr>
          <p:cNvPr id="31" name="Shape 23"/>
          <p:cNvSpPr/>
          <p:nvPr/>
        </p:nvSpPr>
        <p:spPr>
          <a:xfrm>
            <a:off x="756270" y="2757488"/>
            <a:ext cx="518220" cy="490538"/>
          </a:xfrm>
          <a:prstGeom prst="roundRect">
            <a:avLst>
              <a:gd name="adj" fmla="val 21359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4417" y="2865834"/>
            <a:ext cx="161925" cy="16192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65795" y="3062288"/>
            <a:ext cx="499170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개척자</a:t>
            </a:r>
            <a:endParaRPr lang="en-US" sz="600" dirty="0"/>
          </a:p>
        </p:txBody>
      </p:sp>
      <p:sp>
        <p:nvSpPr>
          <p:cNvPr id="34" name="Shape 25"/>
          <p:cNvSpPr/>
          <p:nvPr/>
        </p:nvSpPr>
        <p:spPr>
          <a:xfrm>
            <a:off x="1350690" y="2757488"/>
            <a:ext cx="518145" cy="490538"/>
          </a:xfrm>
          <a:prstGeom prst="roundRect">
            <a:avLst>
              <a:gd name="adj" fmla="val 21359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28763" y="2865834"/>
            <a:ext cx="161925" cy="1619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60215" y="3062288"/>
            <a:ext cx="499095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역전의주역</a:t>
            </a:r>
            <a:endParaRPr lang="en-US" sz="600" dirty="0"/>
          </a:p>
        </p:txBody>
      </p:sp>
      <p:sp>
        <p:nvSpPr>
          <p:cNvPr id="37" name="Shape 27"/>
          <p:cNvSpPr/>
          <p:nvPr/>
        </p:nvSpPr>
        <p:spPr>
          <a:xfrm>
            <a:off x="1945035" y="2757488"/>
            <a:ext cx="518145" cy="490538"/>
          </a:xfrm>
          <a:prstGeom prst="roundRect">
            <a:avLst>
              <a:gd name="adj" fmla="val 21359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23108" y="2865834"/>
            <a:ext cx="161925" cy="16192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954560" y="3062288"/>
            <a:ext cx="499095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순례자</a:t>
            </a:r>
            <a:endParaRPr lang="en-US" sz="600" dirty="0"/>
          </a:p>
        </p:txBody>
      </p:sp>
      <p:sp>
        <p:nvSpPr>
          <p:cNvPr id="40" name="Shape 29"/>
          <p:cNvSpPr/>
          <p:nvPr/>
        </p:nvSpPr>
        <p:spPr>
          <a:xfrm>
            <a:off x="2539380" y="2757488"/>
            <a:ext cx="518145" cy="490538"/>
          </a:xfrm>
          <a:prstGeom prst="roundRect">
            <a:avLst>
              <a:gd name="adj" fmla="val 21359"/>
            </a:avLst>
          </a:prstGeom>
          <a:ln w="19050">
            <a:solidFill>
              <a:srgbClr val="B3AD9D">
                <a:alpha val="50000"/>
              </a:srgbClr>
            </a:solidFill>
            <a:prstDash val="dash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alphaModFix amt="5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17453" y="2865834"/>
            <a:ext cx="161925" cy="16192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2548905" y="3062288"/>
            <a:ext cx="499095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8272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???</a:t>
            </a:r>
            <a:endParaRPr lang="en-US" sz="600" dirty="0"/>
          </a:p>
        </p:txBody>
      </p:sp>
      <p:sp>
        <p:nvSpPr>
          <p:cNvPr id="43" name="Shape 31"/>
          <p:cNvSpPr/>
          <p:nvPr/>
        </p:nvSpPr>
        <p:spPr>
          <a:xfrm>
            <a:off x="161925" y="4152900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0025" y="3898106"/>
            <a:ext cx="119063" cy="119063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346472" y="3886200"/>
            <a:ext cx="7486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 팬덤 관리</a:t>
            </a:r>
            <a:endParaRPr lang="en-US" sz="938" dirty="0"/>
          </a:p>
        </p:txBody>
      </p:sp>
      <p:sp>
        <p:nvSpPr>
          <p:cNvPr id="46" name="Text 33"/>
          <p:cNvSpPr/>
          <p:nvPr/>
        </p:nvSpPr>
        <p:spPr>
          <a:xfrm>
            <a:off x="2976637" y="3888581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161925" y="4557713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0025" y="4302919"/>
            <a:ext cx="119063" cy="119063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346472" y="4291013"/>
            <a:ext cx="954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내역 히스토리</a:t>
            </a:r>
            <a:endParaRPr lang="en-US" sz="938" dirty="0"/>
          </a:p>
        </p:txBody>
      </p:sp>
      <p:sp>
        <p:nvSpPr>
          <p:cNvPr id="50" name="Text 36"/>
          <p:cNvSpPr/>
          <p:nvPr/>
        </p:nvSpPr>
        <p:spPr>
          <a:xfrm>
            <a:off x="2976637" y="4293394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161925" y="4962525"/>
            <a:ext cx="2895600" cy="14288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0025" y="4707731"/>
            <a:ext cx="119063" cy="119063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346472" y="4695825"/>
            <a:ext cx="5153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설정</a:t>
            </a:r>
            <a:endParaRPr lang="en-US" sz="938" dirty="0"/>
          </a:p>
        </p:txBody>
      </p:sp>
      <p:sp>
        <p:nvSpPr>
          <p:cNvPr id="54" name="Text 39"/>
          <p:cNvSpPr/>
          <p:nvPr/>
        </p:nvSpPr>
        <p:spPr>
          <a:xfrm>
            <a:off x="2976637" y="4698206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0025" y="5112544"/>
            <a:ext cx="119063" cy="119063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346472" y="5100638"/>
            <a:ext cx="7821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 · 문의</a:t>
            </a:r>
            <a:endParaRPr lang="en-US" sz="938" dirty="0"/>
          </a:p>
        </p:txBody>
      </p:sp>
      <p:sp>
        <p:nvSpPr>
          <p:cNvPr id="57" name="Text 41"/>
          <p:cNvSpPr/>
          <p:nvPr/>
        </p:nvSpPr>
        <p:spPr>
          <a:xfrm>
            <a:off x="2976637" y="5103019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58" name="Shape 42"/>
          <p:cNvSpPr/>
          <p:nvPr/>
        </p:nvSpPr>
        <p:spPr>
          <a:xfrm>
            <a:off x="9525" y="6219825"/>
            <a:ext cx="32004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43"/>
          <p:cNvSpPr/>
          <p:nvPr/>
        </p:nvSpPr>
        <p:spPr>
          <a:xfrm>
            <a:off x="9525" y="6219825"/>
            <a:ext cx="3200400" cy="19050"/>
          </a:xfrm>
          <a:prstGeom prst="rect">
            <a:avLst/>
          </a:prstGeom>
          <a:solidFill>
            <a:srgbClr val="22201C"/>
          </a:solidFill>
          <a:ln/>
        </p:spPr>
      </p:sp>
      <p:sp>
        <p:nvSpPr>
          <p:cNvPr id="60" name="Text 44"/>
          <p:cNvSpPr/>
          <p:nvPr/>
        </p:nvSpPr>
        <p:spPr>
          <a:xfrm>
            <a:off x="-28575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</a:t>
            </a:r>
            <a:endParaRPr lang="en-US" sz="713" dirty="0"/>
          </a:p>
        </p:txBody>
      </p:sp>
      <p:sp>
        <p:nvSpPr>
          <p:cNvPr id="61" name="Text 45"/>
          <p:cNvSpPr/>
          <p:nvPr/>
        </p:nvSpPr>
        <p:spPr>
          <a:xfrm>
            <a:off x="611460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전황</a:t>
            </a:r>
            <a:endParaRPr lang="en-US" sz="713" dirty="0"/>
          </a:p>
        </p:txBody>
      </p:sp>
      <p:sp>
        <p:nvSpPr>
          <p:cNvPr id="62" name="Text 46"/>
          <p:cNvSpPr/>
          <p:nvPr/>
        </p:nvSpPr>
        <p:spPr>
          <a:xfrm>
            <a:off x="1251570" y="6460331"/>
            <a:ext cx="716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713" dirty="0"/>
          </a:p>
        </p:txBody>
      </p:sp>
      <p:sp>
        <p:nvSpPr>
          <p:cNvPr id="63" name="Text 47"/>
          <p:cNvSpPr/>
          <p:nvPr/>
        </p:nvSpPr>
        <p:spPr>
          <a:xfrm>
            <a:off x="189160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</a:t>
            </a:r>
            <a:endParaRPr lang="en-US" sz="713" dirty="0"/>
          </a:p>
        </p:txBody>
      </p:sp>
      <p:sp>
        <p:nvSpPr>
          <p:cNvPr id="64" name="Text 48"/>
          <p:cNvSpPr/>
          <p:nvPr/>
        </p:nvSpPr>
        <p:spPr>
          <a:xfrm>
            <a:off x="2531715" y="6460331"/>
            <a:ext cx="7163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</a:t>
            </a:r>
            <a:endParaRPr lang="en-US" sz="71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04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253207" y="585788"/>
            <a:ext cx="8273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 팬덤 관리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1925" y="962025"/>
            <a:ext cx="2895600" cy="523875"/>
          </a:xfrm>
          <a:prstGeom prst="roundRect">
            <a:avLst>
              <a:gd name="adj" fmla="val 21818"/>
            </a:avLst>
          </a:prstGeom>
          <a:solidFill>
            <a:srgbClr val="FDF6F4"/>
          </a:solidFill>
          <a:ln w="19050">
            <a:solidFill>
              <a:srgbClr val="C0492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101030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3400" y="1085850"/>
            <a:ext cx="20293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팬덤은 7일에 한 번만 변경할 수 있어요</a:t>
            </a:r>
            <a:endParaRPr lang="en-US" sz="863" dirty="0"/>
          </a:p>
        </p:txBody>
      </p:sp>
      <p:sp>
        <p:nvSpPr>
          <p:cNvPr id="11" name="Text 8"/>
          <p:cNvSpPr/>
          <p:nvPr/>
        </p:nvSpPr>
        <p:spPr>
          <a:xfrm>
            <a:off x="533400" y="1247775"/>
            <a:ext cx="20293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00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변경: 07.10 · 다음 변경 가능일 07.24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61925" y="1781175"/>
            <a:ext cx="2895600" cy="457200"/>
          </a:xfrm>
          <a:prstGeom prst="roundRect">
            <a:avLst>
              <a:gd name="adj" fmla="val 22917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alphaModFix amt="5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1948458"/>
            <a:ext cx="123825" cy="1238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4825" y="1940719"/>
            <a:ext cx="9345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AD9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팬덤/아티스트 검색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61925" y="237172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메인 팬덤 (1개)</a:t>
            </a:r>
            <a:endParaRPr lang="en-US" sz="788" dirty="0"/>
          </a:p>
        </p:txBody>
      </p:sp>
      <p:sp>
        <p:nvSpPr>
          <p:cNvPr id="16" name="Shape 12"/>
          <p:cNvSpPr/>
          <p:nvPr/>
        </p:nvSpPr>
        <p:spPr>
          <a:xfrm>
            <a:off x="161925" y="2566988"/>
            <a:ext cx="2895600" cy="600075"/>
          </a:xfrm>
          <a:prstGeom prst="roundRect">
            <a:avLst>
              <a:gd name="adj" fmla="val 19048"/>
            </a:avLst>
          </a:prstGeom>
          <a:solidFill>
            <a:srgbClr val="F4F8FF"/>
          </a:solidFill>
          <a:ln w="23813">
            <a:solidFill>
              <a:srgbClr val="2F6B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9563" y="2752725"/>
            <a:ext cx="228600" cy="22860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2938" y="26955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3888" y="27146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1090613" y="2795588"/>
            <a:ext cx="15133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· 버니즈</a:t>
            </a:r>
            <a:endParaRPr lang="en-US" sz="938" dirty="0"/>
          </a:p>
        </p:txBody>
      </p:sp>
      <p:sp>
        <p:nvSpPr>
          <p:cNvPr id="21" name="Shape 17"/>
          <p:cNvSpPr/>
          <p:nvPr/>
        </p:nvSpPr>
        <p:spPr>
          <a:xfrm>
            <a:off x="2571155" y="2769394"/>
            <a:ext cx="338733" cy="195263"/>
          </a:xfrm>
          <a:prstGeom prst="roundRect">
            <a:avLst>
              <a:gd name="adj" fmla="val 39024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66405" y="2817019"/>
            <a:ext cx="224433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</a:t>
            </a:r>
            <a:endParaRPr lang="en-US" sz="675" dirty="0"/>
          </a:p>
        </p:txBody>
      </p:sp>
      <p:sp>
        <p:nvSpPr>
          <p:cNvPr id="23" name="Shape 19"/>
          <p:cNvSpPr/>
          <p:nvPr/>
        </p:nvSpPr>
        <p:spPr>
          <a:xfrm>
            <a:off x="161925" y="3243263"/>
            <a:ext cx="2895600" cy="590550"/>
          </a:xfrm>
          <a:prstGeom prst="roundRect">
            <a:avLst>
              <a:gd name="adj" fmla="val 19355"/>
            </a:avLst>
          </a:prstGeom>
          <a:ln w="19050">
            <a:solidFill>
              <a:srgbClr val="22201C">
                <a:alpha val="85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04800" y="3424238"/>
            <a:ext cx="228600" cy="228600"/>
          </a:xfrm>
          <a:prstGeom prst="ellipse">
            <a:avLst/>
          </a:prstGeom>
          <a:ln w="19050">
            <a:solidFill>
              <a:srgbClr val="B3AD9D">
                <a:alpha val="8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8175" y="3367088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64980">
              <a:alpha val="85000"/>
            </a:srgbClr>
          </a:solidFill>
          <a:ln w="19050">
            <a:solidFill>
              <a:srgbClr val="22201C">
                <a:alpha val="8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9125" y="338613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085850" y="3467100"/>
            <a:ext cx="2011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 · 마이</a:t>
            </a:r>
            <a:endParaRPr lang="en-US" sz="938" dirty="0"/>
          </a:p>
        </p:txBody>
      </p:sp>
      <p:sp>
        <p:nvSpPr>
          <p:cNvPr id="28" name="Text 24"/>
          <p:cNvSpPr/>
          <p:nvPr/>
        </p:nvSpPr>
        <p:spPr>
          <a:xfrm>
            <a:off x="161925" y="396716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응원 팬덤 (다중 선택)</a:t>
            </a:r>
            <a:endParaRPr lang="en-US" sz="788" dirty="0"/>
          </a:p>
        </p:txBody>
      </p:sp>
      <p:sp>
        <p:nvSpPr>
          <p:cNvPr id="29" name="Shape 25"/>
          <p:cNvSpPr/>
          <p:nvPr/>
        </p:nvSpPr>
        <p:spPr>
          <a:xfrm>
            <a:off x="161925" y="4162425"/>
            <a:ext cx="2895600" cy="590550"/>
          </a:xfrm>
          <a:prstGeom prst="roundRect">
            <a:avLst>
              <a:gd name="adj" fmla="val 19355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04800" y="43434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85750" y="43624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25" dirty="0"/>
          </a:p>
        </p:txBody>
      </p:sp>
      <p:sp>
        <p:nvSpPr>
          <p:cNvPr id="32" name="Shape 28"/>
          <p:cNvSpPr/>
          <p:nvPr/>
        </p:nvSpPr>
        <p:spPr>
          <a:xfrm>
            <a:off x="638175" y="42862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59F00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19125" y="43053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38" b="1" dirty="0">
                <a:solidFill>
                  <a:srgbClr val="4A37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IVE</a:t>
            </a:r>
            <a:endParaRPr lang="en-US" sz="638" dirty="0"/>
          </a:p>
        </p:txBody>
      </p:sp>
      <p:sp>
        <p:nvSpPr>
          <p:cNvPr id="34" name="Text 30"/>
          <p:cNvSpPr/>
          <p:nvPr/>
        </p:nvSpPr>
        <p:spPr>
          <a:xfrm>
            <a:off x="1085850" y="4386263"/>
            <a:ext cx="2011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· 다이브</a:t>
            </a:r>
            <a:endParaRPr lang="en-US" sz="938" dirty="0"/>
          </a:p>
        </p:txBody>
      </p:sp>
      <p:sp>
        <p:nvSpPr>
          <p:cNvPr id="35" name="Shape 31"/>
          <p:cNvSpPr/>
          <p:nvPr/>
        </p:nvSpPr>
        <p:spPr>
          <a:xfrm>
            <a:off x="161925" y="6067425"/>
            <a:ext cx="2895600" cy="476250"/>
          </a:xfrm>
          <a:prstGeom prst="roundRect">
            <a:avLst>
              <a:gd name="adj" fmla="val 24000"/>
            </a:avLst>
          </a:prstGeom>
          <a:solidFill>
            <a:srgbClr val="E8E5DC"/>
          </a:solidFill>
          <a:ln/>
        </p:spPr>
      </p:sp>
      <p:sp>
        <p:nvSpPr>
          <p:cNvPr id="36" name="Text 32"/>
          <p:cNvSpPr/>
          <p:nvPr/>
        </p:nvSpPr>
        <p:spPr>
          <a:xfrm>
            <a:off x="118491" y="6067425"/>
            <a:ext cx="29824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A29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07.24부터 변경 가능</a:t>
            </a:r>
            <a:endParaRPr lang="en-US" sz="10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04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383357" y="585788"/>
            <a:ext cx="5670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내역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1925" y="962025"/>
            <a:ext cx="606028" cy="295275"/>
          </a:xfrm>
          <a:prstGeom prst="roundRect">
            <a:avLst>
              <a:gd name="adj" fmla="val 32258"/>
            </a:avLst>
          </a:prstGeom>
          <a:solidFill>
            <a:srgbClr val="22201C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275" y="1047750"/>
            <a:ext cx="4155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42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834628" y="962025"/>
            <a:ext cx="606326" cy="295275"/>
          </a:xfrm>
          <a:prstGeom prst="roundRect">
            <a:avLst>
              <a:gd name="adj" fmla="val 3225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7978" y="1047750"/>
            <a:ext cx="41582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38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507629" y="962025"/>
            <a:ext cx="521122" cy="295275"/>
          </a:xfrm>
          <a:prstGeom prst="roundRect">
            <a:avLst>
              <a:gd name="adj" fmla="val 3225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0979" y="1047750"/>
            <a:ext cx="3306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1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2095426" y="962025"/>
            <a:ext cx="538907" cy="295275"/>
          </a:xfrm>
          <a:prstGeom prst="roundRect">
            <a:avLst>
              <a:gd name="adj" fmla="val 3225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8776" y="1047750"/>
            <a:ext cx="3484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 3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161925" y="1457325"/>
            <a:ext cx="2895600" cy="600075"/>
          </a:xfrm>
          <a:prstGeom prst="roundRect">
            <a:avLst>
              <a:gd name="adj" fmla="val 1904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800" y="1607344"/>
            <a:ext cx="14197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어반소스 × 안유진 생일카페</a:t>
            </a:r>
            <a:endParaRPr lang="en-US" sz="938" dirty="0"/>
          </a:p>
        </p:txBody>
      </p:sp>
      <p:sp>
        <p:nvSpPr>
          <p:cNvPr id="18" name="Shape 16"/>
          <p:cNvSpPr/>
          <p:nvPr/>
        </p:nvSpPr>
        <p:spPr>
          <a:xfrm>
            <a:off x="2577257" y="1581150"/>
            <a:ext cx="337393" cy="195263"/>
          </a:xfrm>
          <a:prstGeom prst="roundRect">
            <a:avLst>
              <a:gd name="adj" fmla="val 34146"/>
            </a:avLst>
          </a:prstGeom>
          <a:ln w="14288">
            <a:solidFill>
              <a:srgbClr val="0080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7744" y="1624013"/>
            <a:ext cx="232618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304800" y="1814513"/>
            <a:ext cx="287083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07.22 14:03 · 성동구 · 기여 </a:t>
            </a:r>
            <a:pPr algn="l" indent="0" marL="0">
              <a:buNone/>
            </a:pPr>
            <a:r>
              <a:rPr lang="en-US" sz="788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+0.4%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161925" y="2143125"/>
            <a:ext cx="2895600" cy="600075"/>
          </a:xfrm>
          <a:prstGeom prst="roundRect">
            <a:avLst>
              <a:gd name="adj" fmla="val 19048"/>
            </a:avLst>
          </a:prstGeom>
          <a:solidFill>
            <a:srgbClr val="F8FAFF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2293144"/>
            <a:ext cx="8231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언더스탠드 카페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2400598" y="2266950"/>
            <a:ext cx="514052" cy="195263"/>
          </a:xfrm>
          <a:prstGeom prst="roundRect">
            <a:avLst>
              <a:gd name="adj" fmla="val 34146"/>
            </a:avLst>
          </a:prstGeom>
          <a:ln w="14288">
            <a:solidFill>
              <a:srgbClr val="2456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1085" y="2309813"/>
            <a:ext cx="409277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2456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대기</a:t>
            </a:r>
            <a:endParaRPr lang="en-US" sz="713" dirty="0"/>
          </a:p>
        </p:txBody>
      </p:sp>
      <p:sp>
        <p:nvSpPr>
          <p:cNvPr id="25" name="Text 23"/>
          <p:cNvSpPr/>
          <p:nvPr/>
        </p:nvSpPr>
        <p:spPr>
          <a:xfrm>
            <a:off x="304800" y="2500313"/>
            <a:ext cx="287083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07.22 11:20 · 성동구 · 10분 내 결과 예정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61925" y="2828925"/>
            <a:ext cx="2895600" cy="938213"/>
          </a:xfrm>
          <a:prstGeom prst="roundRect">
            <a:avLst>
              <a:gd name="adj" fmla="val 12183"/>
            </a:avLst>
          </a:prstGeom>
          <a:solidFill>
            <a:srgbClr val="FDF6F4"/>
          </a:solidFill>
          <a:ln w="19050">
            <a:solidFill>
              <a:srgbClr val="C049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800" y="2978944"/>
            <a:ext cx="9527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연방극장 팝업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2577257" y="2952750"/>
            <a:ext cx="337393" cy="195263"/>
          </a:xfrm>
          <a:prstGeom prst="roundRect">
            <a:avLst>
              <a:gd name="adj" fmla="val 34146"/>
            </a:avLst>
          </a:prstGeom>
          <a:ln w="14288">
            <a:solidFill>
              <a:srgbClr val="C049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67744" y="2995613"/>
            <a:ext cx="232618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</a:t>
            </a:r>
            <a:endParaRPr lang="en-US" sz="713" dirty="0"/>
          </a:p>
        </p:txBody>
      </p:sp>
      <p:sp>
        <p:nvSpPr>
          <p:cNvPr id="30" name="Text 28"/>
          <p:cNvSpPr/>
          <p:nvPr/>
        </p:nvSpPr>
        <p:spPr>
          <a:xfrm>
            <a:off x="304800" y="3186113"/>
            <a:ext cx="287083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사유: 영수증 최신성 만료 (7일 초과)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304800" y="3371850"/>
            <a:ext cx="888653" cy="271463"/>
          </a:xfrm>
          <a:prstGeom prst="roundRect">
            <a:avLst>
              <a:gd name="adj" fmla="val 31579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" y="3448050"/>
            <a:ext cx="100013" cy="10001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8638" y="3448050"/>
            <a:ext cx="6171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인증하기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161925" y="3852863"/>
            <a:ext cx="2895600" cy="600075"/>
          </a:xfrm>
          <a:prstGeom prst="roundRect">
            <a:avLst>
              <a:gd name="adj" fmla="val 19048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4800" y="4002881"/>
            <a:ext cx="9527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무신사 테라스 팝업</a:t>
            </a:r>
            <a:endParaRPr lang="en-US" sz="938" dirty="0"/>
          </a:p>
        </p:txBody>
      </p:sp>
      <p:sp>
        <p:nvSpPr>
          <p:cNvPr id="36" name="Shape 33"/>
          <p:cNvSpPr/>
          <p:nvPr/>
        </p:nvSpPr>
        <p:spPr>
          <a:xfrm>
            <a:off x="2577257" y="3976687"/>
            <a:ext cx="337393" cy="195263"/>
          </a:xfrm>
          <a:prstGeom prst="roundRect">
            <a:avLst>
              <a:gd name="adj" fmla="val 34146"/>
            </a:avLst>
          </a:prstGeom>
          <a:ln w="14288">
            <a:solidFill>
              <a:srgbClr val="00806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67744" y="4019550"/>
            <a:ext cx="232618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</a:t>
            </a:r>
            <a:endParaRPr lang="en-US" sz="713" dirty="0"/>
          </a:p>
        </p:txBody>
      </p:sp>
      <p:sp>
        <p:nvSpPr>
          <p:cNvPr id="38" name="Text 35"/>
          <p:cNvSpPr/>
          <p:nvPr/>
        </p:nvSpPr>
        <p:spPr>
          <a:xfrm>
            <a:off x="304800" y="4210050"/>
            <a:ext cx="287083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07.19 16:44 · 마포구 · 기여 </a:t>
            </a:r>
            <a:pPr algn="l" indent="0" marL="0">
              <a:buNone/>
            </a:pPr>
            <a:r>
              <a:rPr lang="en-US" sz="788" b="1" dirty="0">
                <a:solidFill>
                  <a:srgbClr val="0080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+0.4%</a:t>
            </a:r>
            <a:endParaRPr lang="en-US" sz="78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61925" y="485775"/>
            <a:ext cx="4054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71167" y="538163"/>
            <a:ext cx="4625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읽음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61925" y="962025"/>
            <a:ext cx="2895600" cy="523875"/>
          </a:xfrm>
          <a:prstGeom prst="roundRect">
            <a:avLst>
              <a:gd name="adj" fmla="val 21818"/>
            </a:avLst>
          </a:prstGeom>
          <a:solidFill>
            <a:srgbClr val="FDF6F4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097607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2925" y="1085850"/>
            <a:ext cx="243078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 점령지가 역전당했어요!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2925" y="1243013"/>
            <a:ext cx="243078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에스파가 1위를 가져갔어요 · 방금</a:t>
            </a:r>
            <a:endParaRPr lang="en-US" sz="788" dirty="0"/>
          </a:p>
        </p:txBody>
      </p:sp>
      <p:sp>
        <p:nvSpPr>
          <p:cNvPr id="11" name="Shape 8"/>
          <p:cNvSpPr/>
          <p:nvPr/>
        </p:nvSpPr>
        <p:spPr>
          <a:xfrm>
            <a:off x="2838450" y="1123950"/>
            <a:ext cx="76200" cy="7620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2" name="Shape 9"/>
          <p:cNvSpPr/>
          <p:nvPr/>
        </p:nvSpPr>
        <p:spPr>
          <a:xfrm>
            <a:off x="161925" y="1571625"/>
            <a:ext cx="2895600" cy="523875"/>
          </a:xfrm>
          <a:prstGeom prst="roundRect">
            <a:avLst>
              <a:gd name="adj" fmla="val 21818"/>
            </a:avLst>
          </a:prstGeom>
          <a:solidFill>
            <a:srgbClr val="FFFBE8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1707207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925" y="1695450"/>
            <a:ext cx="243078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언더스탠드 카페 거점이 위태로워요!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2925" y="1852612"/>
            <a:ext cx="243078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2위와 격차 4.2%p · 12분 전</a:t>
            </a:r>
            <a:endParaRPr lang="en-US" sz="788" dirty="0"/>
          </a:p>
        </p:txBody>
      </p:sp>
      <p:sp>
        <p:nvSpPr>
          <p:cNvPr id="16" name="Shape 12"/>
          <p:cNvSpPr/>
          <p:nvPr/>
        </p:nvSpPr>
        <p:spPr>
          <a:xfrm>
            <a:off x="2838450" y="1733550"/>
            <a:ext cx="76200" cy="7620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7" name="Shape 13"/>
          <p:cNvSpPr/>
          <p:nvPr/>
        </p:nvSpPr>
        <p:spPr>
          <a:xfrm>
            <a:off x="161925" y="2181225"/>
            <a:ext cx="2895600" cy="523875"/>
          </a:xfrm>
          <a:prstGeom prst="roundRect">
            <a:avLst>
              <a:gd name="adj" fmla="val 21818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" y="2316807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2925" y="2305050"/>
            <a:ext cx="260889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수호신 칭호가 위협받고 있어요!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2925" y="2462213"/>
            <a:ext cx="26088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럭키팬이 1건 차이로 추격 중 · 1시간 전</a:t>
            </a:r>
            <a:endParaRPr lang="en-US" sz="788" dirty="0"/>
          </a:p>
        </p:txBody>
      </p:sp>
      <p:sp>
        <p:nvSpPr>
          <p:cNvPr id="21" name="Shape 16"/>
          <p:cNvSpPr/>
          <p:nvPr/>
        </p:nvSpPr>
        <p:spPr>
          <a:xfrm>
            <a:off x="161925" y="2790825"/>
            <a:ext cx="2895600" cy="523875"/>
          </a:xfrm>
          <a:prstGeom prst="roundRect">
            <a:avLst>
              <a:gd name="adj" fmla="val 21818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800" y="2926407"/>
            <a:ext cx="152400" cy="152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2925" y="2914650"/>
            <a:ext cx="260889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인증 승인 (+0.4% 기여)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42925" y="3071813"/>
            <a:ext cx="26088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어반소스 × 안유진 생일카페 · 3시간 전</a:t>
            </a:r>
            <a:endParaRPr lang="en-US" sz="788" dirty="0"/>
          </a:p>
        </p:txBody>
      </p:sp>
      <p:sp>
        <p:nvSpPr>
          <p:cNvPr id="25" name="Shape 19"/>
          <p:cNvSpPr/>
          <p:nvPr/>
        </p:nvSpPr>
        <p:spPr>
          <a:xfrm>
            <a:off x="161925" y="3400425"/>
            <a:ext cx="2895600" cy="523875"/>
          </a:xfrm>
          <a:prstGeom prst="roundRect">
            <a:avLst>
              <a:gd name="adj" fmla="val 21818"/>
            </a:avLst>
          </a:prstGeom>
          <a:ln w="19050">
            <a:solidFill>
              <a:srgbClr val="22201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4800" y="3536007"/>
            <a:ext cx="152400" cy="1524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925" y="3524250"/>
            <a:ext cx="260889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[신규 성지] 새로운 거점 오픈!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42925" y="3681413"/>
            <a:ext cx="26088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뉴진스 팝업이 성수에 등록됐어요 · 어제</a:t>
            </a:r>
            <a:endParaRPr lang="en-US" sz="788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04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513508" y="585788"/>
            <a:ext cx="3067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1925" y="100012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161925" y="1176338"/>
            <a:ext cx="2895600" cy="833438"/>
          </a:xfrm>
          <a:prstGeom prst="roundRect">
            <a:avLst>
              <a:gd name="adj" fmla="val 1371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975" y="1585913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" name="Text 9"/>
          <p:cNvSpPr/>
          <p:nvPr/>
        </p:nvSpPr>
        <p:spPr>
          <a:xfrm>
            <a:off x="314325" y="1319213"/>
            <a:ext cx="6181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연결된 계정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2570708" y="1328738"/>
            <a:ext cx="41061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›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4325" y="1724025"/>
            <a:ext cx="6181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관리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2862337" y="1726406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1925" y="214312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161925" y="2319338"/>
            <a:ext cx="2895600" cy="1362075"/>
          </a:xfrm>
          <a:prstGeom prst="roundRect">
            <a:avLst>
              <a:gd name="adj" fmla="val 8392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975" y="2728913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8" name="Text 16"/>
          <p:cNvSpPr/>
          <p:nvPr/>
        </p:nvSpPr>
        <p:spPr>
          <a:xfrm>
            <a:off x="314325" y="2462213"/>
            <a:ext cx="9817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푸시 알림 세부 설정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2862337" y="2464594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0975" y="3257550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1" name="Text 19"/>
          <p:cNvSpPr/>
          <p:nvPr/>
        </p:nvSpPr>
        <p:spPr>
          <a:xfrm>
            <a:off x="314325" y="2928938"/>
            <a:ext cx="6181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서비스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2466975" y="2867025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14625" y="2905125"/>
            <a:ext cx="152400" cy="152400"/>
          </a:xfrm>
          <a:prstGeom prst="ellipse">
            <a:avLst/>
          </a:prstGeom>
          <a:solidFill>
            <a:srgbClr val="22201C"/>
          </a:solidFill>
          <a:ln/>
        </p:spPr>
      </p:sp>
      <p:sp>
        <p:nvSpPr>
          <p:cNvPr id="24" name="Text 22"/>
          <p:cNvSpPr/>
          <p:nvPr/>
        </p:nvSpPr>
        <p:spPr>
          <a:xfrm>
            <a:off x="314325" y="3395663"/>
            <a:ext cx="28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2570708" y="3405188"/>
            <a:ext cx="41061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›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61925" y="3814763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161925" y="3990975"/>
            <a:ext cx="2895600" cy="1238250"/>
          </a:xfrm>
          <a:prstGeom prst="roundRect">
            <a:avLst>
              <a:gd name="adj" fmla="val 9231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0975" y="4400550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9" name="Text 27"/>
          <p:cNvSpPr/>
          <p:nvPr/>
        </p:nvSpPr>
        <p:spPr>
          <a:xfrm>
            <a:off x="314325" y="4133850"/>
            <a:ext cx="4878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2862337" y="4136231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0975" y="4805363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2" name="Text 30"/>
          <p:cNvSpPr/>
          <p:nvPr/>
        </p:nvSpPr>
        <p:spPr>
          <a:xfrm>
            <a:off x="314325" y="4538663"/>
            <a:ext cx="5152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정보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2627263" y="4548188"/>
            <a:ext cx="3540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v0.1.0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14325" y="4943475"/>
            <a:ext cx="4878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C049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로그아웃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2862337" y="4945856"/>
            <a:ext cx="1189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19450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338138"/>
            <a:ext cx="323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494657" y="36195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◗◗◗ 5G ▚▚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61925" y="485775"/>
            <a:ext cx="361950" cy="361950"/>
          </a:xfrm>
          <a:prstGeom prst="roundRect">
            <a:avLst>
              <a:gd name="adj" fmla="val 23684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" y="50482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253207" y="585788"/>
            <a:ext cx="8273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푸시 알림 설정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1925" y="100012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영토전 게임 알림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161925" y="1176338"/>
            <a:ext cx="2895600" cy="1052513"/>
          </a:xfrm>
          <a:prstGeom prst="roundRect">
            <a:avLst>
              <a:gd name="adj" fmla="val 10860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975" y="1695450"/>
            <a:ext cx="2857500" cy="14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" name="Text 9"/>
          <p:cNvSpPr/>
          <p:nvPr/>
        </p:nvSpPr>
        <p:spPr>
          <a:xfrm>
            <a:off x="314325" y="1309688"/>
            <a:ext cx="12264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영토 뒤집힘 알림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314325" y="1471613"/>
            <a:ext cx="122641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점령 구 역전 시 · 30분 쿨다운</a:t>
            </a:r>
            <a:endParaRPr lang="en-US" sz="713" dirty="0"/>
          </a:p>
        </p:txBody>
      </p:sp>
      <p:sp>
        <p:nvSpPr>
          <p:cNvPr id="13" name="Shape 11"/>
          <p:cNvSpPr/>
          <p:nvPr/>
        </p:nvSpPr>
        <p:spPr>
          <a:xfrm>
            <a:off x="2466975" y="1312069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4625" y="1350169"/>
            <a:ext cx="152400" cy="152400"/>
          </a:xfrm>
          <a:prstGeom prst="ellipse">
            <a:avLst/>
          </a:prstGeom>
          <a:solidFill>
            <a:srgbClr val="22201C"/>
          </a:solidFill>
          <a:ln/>
        </p:spPr>
      </p:sp>
      <p:sp>
        <p:nvSpPr>
          <p:cNvPr id="15" name="Text 13"/>
          <p:cNvSpPr/>
          <p:nvPr/>
        </p:nvSpPr>
        <p:spPr>
          <a:xfrm>
            <a:off x="314325" y="1824038"/>
            <a:ext cx="11892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성지 방어 &amp; 수호신 알림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314325" y="1985963"/>
            <a:ext cx="1189286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 5%p 이하 · 칭호 추격 시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2466975" y="1826419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4625" y="1864519"/>
            <a:ext cx="152400" cy="152400"/>
          </a:xfrm>
          <a:prstGeom prst="ellipse">
            <a:avLst/>
          </a:prstGeom>
          <a:solidFill>
            <a:srgbClr val="22201C"/>
          </a:solidFill>
          <a:ln/>
        </p:spPr>
      </p:sp>
      <p:sp>
        <p:nvSpPr>
          <p:cNvPr id="19" name="Text 17"/>
          <p:cNvSpPr/>
          <p:nvPr/>
        </p:nvSpPr>
        <p:spPr>
          <a:xfrm>
            <a:off x="161925" y="2362200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&amp; 활동 알림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61925" y="2538413"/>
            <a:ext cx="2895600" cy="538163"/>
          </a:xfrm>
          <a:prstGeom prst="roundRect">
            <a:avLst>
              <a:gd name="adj" fmla="val 2123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325" y="2671763"/>
            <a:ext cx="10846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검수 결과 알림</a:t>
            </a:r>
            <a:endParaRPr lang="en-US" sz="938" dirty="0"/>
          </a:p>
        </p:txBody>
      </p:sp>
      <p:sp>
        <p:nvSpPr>
          <p:cNvPr id="22" name="Text 20"/>
          <p:cNvSpPr/>
          <p:nvPr/>
        </p:nvSpPr>
        <p:spPr>
          <a:xfrm>
            <a:off x="314325" y="2833688"/>
            <a:ext cx="108465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검수 승인/반려 판정 시</a:t>
            </a:r>
            <a:endParaRPr lang="en-US" sz="713" dirty="0"/>
          </a:p>
        </p:txBody>
      </p:sp>
      <p:sp>
        <p:nvSpPr>
          <p:cNvPr id="23" name="Shape 21"/>
          <p:cNvSpPr/>
          <p:nvPr/>
        </p:nvSpPr>
        <p:spPr>
          <a:xfrm>
            <a:off x="2466975" y="2674144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E14D"/>
          </a:solidFill>
          <a:ln w="19050">
            <a:solidFill>
              <a:srgbClr val="2220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4625" y="2712244"/>
            <a:ext cx="152400" cy="152400"/>
          </a:xfrm>
          <a:prstGeom prst="ellipse">
            <a:avLst/>
          </a:prstGeom>
          <a:solidFill>
            <a:srgbClr val="22201C"/>
          </a:solidFill>
          <a:ln/>
        </p:spPr>
      </p:sp>
      <p:sp>
        <p:nvSpPr>
          <p:cNvPr id="25" name="Text 23"/>
          <p:cNvSpPr/>
          <p:nvPr/>
        </p:nvSpPr>
        <p:spPr>
          <a:xfrm>
            <a:off x="161925" y="3209925"/>
            <a:ext cx="3185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&amp; 마케팅 알림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61925" y="3386138"/>
            <a:ext cx="2895600" cy="538163"/>
          </a:xfrm>
          <a:prstGeom prst="roundRect">
            <a:avLst>
              <a:gd name="adj" fmla="val 21239"/>
            </a:avLst>
          </a:prstGeom>
          <a:ln w="19050">
            <a:solidFill>
              <a:srgbClr val="2220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325" y="3519488"/>
            <a:ext cx="13496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22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성지 &amp; 이벤트 소식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314325" y="3681413"/>
            <a:ext cx="134963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8A82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수신동의 연동 · 야간 미발송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2466975" y="3521869"/>
            <a:ext cx="4381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D9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05075" y="3559969"/>
            <a:ext cx="152400" cy="152400"/>
          </a:xfrm>
          <a:prstGeom prst="ellipse">
            <a:avLst/>
          </a:prstGeom>
          <a:solidFill>
            <a:srgbClr val="B3AD9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1925" y="4057650"/>
            <a:ext cx="2895600" cy="552450"/>
          </a:xfrm>
          <a:prstGeom prst="roundRect">
            <a:avLst>
              <a:gd name="adj" fmla="val 20690"/>
            </a:avLst>
          </a:prstGeom>
          <a:solidFill>
            <a:srgbClr val="F8FAFF"/>
          </a:solidFill>
          <a:ln w="19050">
            <a:solidFill>
              <a:srgbClr val="22201C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4209083"/>
            <a:ext cx="95250" cy="952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04800" y="4200525"/>
            <a:ext cx="26859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50" b="1" dirty="0">
                <a:solidFill>
                  <a:srgbClr val="4A4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야간(21시~08시)에는 마케팅 푸시가 발송되지 않아요. 게임 알림은 실시간으로 전달됩니다.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2026-07-29T09:52:39Z</dcterms:created>
  <dcterms:modified xsi:type="dcterms:W3CDTF">2026-07-29T09:52:39Z</dcterms:modified>
</cp:coreProperties>
</file>